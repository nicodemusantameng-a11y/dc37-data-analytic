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Muli" panose="020B0604020202020204" charset="0"/>
      <p:regular r:id="rId17"/>
    </p:embeddedFont>
    <p:embeddedFont>
      <p:font typeface="Arapey Bold" panose="020B0604020202020204" charset="0"/>
      <p:regular r:id="rId18"/>
    </p:embeddedFont>
    <p:embeddedFont>
      <p:font typeface="Muli Bold" panose="020B0604020202020204" charset="0"/>
      <p:regular r:id="rId19"/>
    </p:embeddedFont>
    <p:embeddedFont>
      <p:font typeface="Arapey Bold Italics" panose="020B0604020202020204" charset="0"/>
      <p:regular r:id="rId20"/>
    </p:embeddedFont>
    <p:embeddedFont>
      <p:font typeface="Arapey" panose="020B0604020202020204" charset="0"/>
      <p:regular r:id="rId21"/>
    </p:embeddedFont>
    <p:embeddedFont>
      <p:font typeface="League Gothic" panose="020B0604020202020204" charset="0"/>
      <p:regular r:id="rId22"/>
    </p:embeddedFont>
    <p:embeddedFont>
      <p:font typeface="Calibri" panose="020F0502020204030204" pitchFamily="34" charset="0"/>
      <p:regular r:id="rId23"/>
      <p:bold r:id="rId24"/>
      <p:italic r:id="rId25"/>
      <p:boldItalic r:id="rId26"/>
    </p:embeddedFont>
    <p:embeddedFont>
      <p:font typeface="Times New Roman MT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22" autoAdjust="0"/>
  </p:normalViewPr>
  <p:slideViewPr>
    <p:cSldViewPr>
      <p:cViewPr varScale="1">
        <p:scale>
          <a:sx n="41" d="100"/>
          <a:sy n="41" d="100"/>
        </p:scale>
        <p:origin x="360"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3762188" y="3732677"/>
            <a:ext cx="11745226" cy="4706733"/>
          </a:xfrm>
          <a:prstGeom prst="rect">
            <a:avLst/>
          </a:prstGeom>
        </p:spPr>
        <p:txBody>
          <a:bodyPr lIns="0" tIns="0" rIns="0" bIns="0" rtlCol="0" anchor="t">
            <a:spAutoFit/>
          </a:bodyPr>
          <a:lstStyle/>
          <a:p>
            <a:pPr marL="0" lvl="0" indent="0" algn="ctr">
              <a:lnSpc>
                <a:spcPts val="12367"/>
              </a:lnSpc>
            </a:pPr>
            <a:r>
              <a:rPr lang="en-US" sz="10754">
                <a:solidFill>
                  <a:srgbClr val="FFFFFF"/>
                </a:solidFill>
                <a:latin typeface="League Gothic"/>
                <a:ea typeface="League Gothic"/>
                <a:cs typeface="League Gothic"/>
                <a:sym typeface="League Gothic"/>
              </a:rPr>
              <a:t>NYC SCHOOL BUS BREAKDOWN AND DELAYS ANALYSIS </a:t>
            </a:r>
          </a:p>
          <a:p>
            <a:pPr marL="0" lvl="0" indent="0" algn="ctr">
              <a:lnSpc>
                <a:spcPts val="12367"/>
              </a:lnSpc>
            </a:pPr>
            <a:r>
              <a:rPr lang="en-US" sz="10754">
                <a:solidFill>
                  <a:srgbClr val="FFFFFF"/>
                </a:solidFill>
                <a:latin typeface="League Gothic"/>
                <a:ea typeface="League Gothic"/>
                <a:cs typeface="League Gothic"/>
                <a:sym typeface="League Gothic"/>
              </a:rPr>
              <a:t>(2010-2026)</a:t>
            </a:r>
          </a:p>
        </p:txBody>
      </p:sp>
      <p:sp>
        <p:nvSpPr>
          <p:cNvPr id="4" name="TextBox 4"/>
          <p:cNvSpPr txBox="1"/>
          <p:nvPr/>
        </p:nvSpPr>
        <p:spPr>
          <a:xfrm>
            <a:off x="6511958" y="9464714"/>
            <a:ext cx="5941684" cy="340663"/>
          </a:xfrm>
          <a:prstGeom prst="rect">
            <a:avLst/>
          </a:prstGeom>
        </p:spPr>
        <p:txBody>
          <a:bodyPr lIns="0" tIns="0" rIns="0" bIns="0" rtlCol="0" anchor="t">
            <a:spAutoFit/>
          </a:bodyPr>
          <a:lstStyle/>
          <a:p>
            <a:pPr marL="0" lvl="0" indent="0" algn="ctr">
              <a:lnSpc>
                <a:spcPts val="2712"/>
              </a:lnSpc>
            </a:pPr>
            <a:r>
              <a:rPr lang="en-US" sz="1870" b="1" spc="394">
                <a:solidFill>
                  <a:srgbClr val="F4D314"/>
                </a:solidFill>
                <a:latin typeface="Muli Bold"/>
                <a:ea typeface="Muli Bold"/>
                <a:cs typeface="Muli Bold"/>
                <a:sym typeface="Muli Bold"/>
              </a:rPr>
              <a:t>NICODEMUS ANTAMENG - MAY 2026</a:t>
            </a:r>
          </a:p>
        </p:txBody>
      </p:sp>
      <p:sp>
        <p:nvSpPr>
          <p:cNvPr id="5" name="TextBox 5"/>
          <p:cNvSpPr txBox="1"/>
          <p:nvPr/>
        </p:nvSpPr>
        <p:spPr>
          <a:xfrm>
            <a:off x="13484774" y="167122"/>
            <a:ext cx="4375243" cy="1026248"/>
          </a:xfrm>
          <a:prstGeom prst="rect">
            <a:avLst/>
          </a:prstGeom>
        </p:spPr>
        <p:txBody>
          <a:bodyPr lIns="0" tIns="0" rIns="0" bIns="0" rtlCol="0" anchor="t">
            <a:spAutoFit/>
          </a:bodyPr>
          <a:lstStyle/>
          <a:p>
            <a:pPr marL="0" lvl="0" indent="0" algn="ctr">
              <a:lnSpc>
                <a:spcPts val="2721"/>
              </a:lnSpc>
            </a:pPr>
            <a:r>
              <a:rPr lang="en-US" sz="1877" b="1" spc="281">
                <a:solidFill>
                  <a:srgbClr val="FFFFFF"/>
                </a:solidFill>
                <a:latin typeface="Muli Bold"/>
                <a:ea typeface="Muli Bold"/>
                <a:cs typeface="Muli Bold"/>
                <a:sym typeface="Muli Bold"/>
              </a:rPr>
              <a:t>INSIGHTS INTO INCIDENT PATTERNS WITH A FOCUS ON BROOKLYN</a:t>
            </a:r>
          </a:p>
        </p:txBody>
      </p:sp>
      <p:sp>
        <p:nvSpPr>
          <p:cNvPr id="6" name="TextBox 6"/>
          <p:cNvSpPr txBox="1"/>
          <p:nvPr/>
        </p:nvSpPr>
        <p:spPr>
          <a:xfrm>
            <a:off x="160040" y="100447"/>
            <a:ext cx="5264084" cy="1080438"/>
          </a:xfrm>
          <a:prstGeom prst="rect">
            <a:avLst/>
          </a:prstGeom>
        </p:spPr>
        <p:txBody>
          <a:bodyPr lIns="0" tIns="0" rIns="0" bIns="0" rtlCol="0" anchor="t">
            <a:spAutoFit/>
          </a:bodyPr>
          <a:lstStyle/>
          <a:p>
            <a:pPr algn="ctr">
              <a:lnSpc>
                <a:spcPts val="4162"/>
              </a:lnSpc>
            </a:pPr>
            <a:r>
              <a:rPr lang="en-US" sz="2870" b="1" spc="605">
                <a:solidFill>
                  <a:srgbClr val="FFFFFF"/>
                </a:solidFill>
                <a:latin typeface="Times New Roman MT Bold"/>
                <a:ea typeface="Times New Roman MT Bold"/>
                <a:cs typeface="Times New Roman MT Bold"/>
                <a:sym typeface="Times New Roman MT Bold"/>
              </a:rPr>
              <a:t>DATA ANALYTIC</a:t>
            </a:r>
          </a:p>
          <a:p>
            <a:pPr marL="0" lvl="0" indent="0" algn="ctr">
              <a:lnSpc>
                <a:spcPts val="4162"/>
              </a:lnSpc>
            </a:pPr>
            <a:r>
              <a:rPr lang="en-US" sz="2870" b="1" spc="605">
                <a:solidFill>
                  <a:srgbClr val="FFFFFF"/>
                </a:solidFill>
                <a:latin typeface="Times New Roman MT Bold"/>
                <a:ea typeface="Times New Roman MT Bold"/>
                <a:cs typeface="Times New Roman MT Bold"/>
                <a:sym typeface="Times New Roman MT Bold"/>
              </a:rPr>
              <a:t>Prof. Imran Khan</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2888788" y="1576461"/>
            <a:ext cx="13334999" cy="3605324"/>
            <a:chOff x="25130" y="-82716"/>
            <a:chExt cx="812800" cy="315157"/>
          </a:xfrm>
        </p:grpSpPr>
        <p:sp>
          <p:nvSpPr>
            <p:cNvPr id="4" name="Freeform 4"/>
            <p:cNvSpPr/>
            <p:nvPr/>
          </p:nvSpPr>
          <p:spPr>
            <a:xfrm>
              <a:off x="25130" y="-82716"/>
              <a:ext cx="812800" cy="315157"/>
            </a:xfrm>
            <a:custGeom>
              <a:avLst/>
              <a:gdLst/>
              <a:ahLst/>
              <a:cxnLst/>
              <a:rect l="l" t="t" r="r" b="b"/>
              <a:pathLst>
                <a:path w="812800" h="193801">
                  <a:moveTo>
                    <a:pt x="0" y="0"/>
                  </a:moveTo>
                  <a:lnTo>
                    <a:pt x="812800" y="0"/>
                  </a:lnTo>
                  <a:lnTo>
                    <a:pt x="812800" y="193801"/>
                  </a:lnTo>
                  <a:lnTo>
                    <a:pt x="0" y="193801"/>
                  </a:lnTo>
                  <a:close/>
                </a:path>
              </a:pathLst>
            </a:custGeom>
            <a:solidFill>
              <a:srgbClr val="F4D314"/>
            </a:solidFill>
          </p:spPr>
        </p:sp>
        <p:sp>
          <p:nvSpPr>
            <p:cNvPr id="5" name="TextBox 5"/>
            <p:cNvSpPr txBox="1"/>
            <p:nvPr/>
          </p:nvSpPr>
          <p:spPr>
            <a:xfrm>
              <a:off x="25130" y="-48897"/>
              <a:ext cx="812800" cy="262234"/>
            </a:xfrm>
            <a:prstGeom prst="rect">
              <a:avLst/>
            </a:prstGeom>
          </p:spPr>
          <p:txBody>
            <a:bodyPr lIns="50800" tIns="50800" rIns="50800" bIns="50800" rtlCol="0" anchor="ctr"/>
            <a:lstStyle/>
            <a:p>
              <a:pPr algn="ctr">
                <a:lnSpc>
                  <a:spcPts val="4350"/>
                </a:lnSpc>
              </a:pPr>
              <a:r>
                <a:rPr lang="en-US" sz="3000" b="1" dirty="0">
                  <a:solidFill>
                    <a:srgbClr val="0877A1"/>
                  </a:solidFill>
                  <a:latin typeface="Muli Bold"/>
                  <a:ea typeface="Muli Bold"/>
                  <a:cs typeface="Muli Bold"/>
                  <a:sym typeface="Muli Bold"/>
                </a:rPr>
                <a:t>https://data.cityofnewyork.us/api/v3/views/ez4e-fazm/query.json</a:t>
              </a:r>
            </a:p>
            <a:p>
              <a:pPr algn="ctr">
                <a:lnSpc>
                  <a:spcPts val="4350"/>
                </a:lnSpc>
              </a:pPr>
              <a:r>
                <a:rPr lang="en-US" sz="3000" b="1" dirty="0">
                  <a:solidFill>
                    <a:srgbClr val="FF3131"/>
                  </a:solidFill>
                  <a:latin typeface="Muli Bold"/>
                  <a:ea typeface="Muli Bold"/>
                  <a:cs typeface="Muli Bold"/>
                  <a:sym typeface="Muli Bold"/>
                </a:rPr>
                <a:t>or</a:t>
              </a:r>
            </a:p>
            <a:p>
              <a:pPr algn="ctr">
                <a:lnSpc>
                  <a:spcPts val="4350"/>
                </a:lnSpc>
              </a:pPr>
              <a:r>
                <a:rPr lang="en-US" sz="3000" b="1" dirty="0">
                  <a:solidFill>
                    <a:srgbClr val="0877A1"/>
                  </a:solidFill>
                  <a:latin typeface="Muli Bold"/>
                  <a:ea typeface="Muli Bold"/>
                  <a:cs typeface="Muli Bold"/>
                  <a:sym typeface="Muli Bold"/>
                </a:rPr>
                <a:t>C:/content/Bus_Breakdown_and_Delays_20260429.csv</a:t>
              </a:r>
            </a:p>
            <a:p>
              <a:pPr algn="ctr">
                <a:lnSpc>
                  <a:spcPts val="4350"/>
                </a:lnSpc>
              </a:pPr>
              <a:r>
                <a:rPr lang="en-US" sz="3000" b="1" dirty="0">
                  <a:solidFill>
                    <a:srgbClr val="FF3131"/>
                  </a:solidFill>
                  <a:latin typeface="Muli Bold"/>
                  <a:ea typeface="Muli Bold"/>
                  <a:cs typeface="Muli Bold"/>
                  <a:sym typeface="Muli Bold"/>
                </a:rPr>
                <a:t>and</a:t>
              </a:r>
            </a:p>
            <a:p>
              <a:pPr marL="0" lvl="0" indent="0" algn="ctr">
                <a:lnSpc>
                  <a:spcPts val="4350"/>
                </a:lnSpc>
              </a:pPr>
              <a:r>
                <a:rPr lang="en-US" sz="3000" b="1" dirty="0">
                  <a:solidFill>
                    <a:srgbClr val="0877A1"/>
                  </a:solidFill>
                  <a:latin typeface="Muli Bold"/>
                  <a:ea typeface="Muli Bold"/>
                  <a:cs typeface="Muli Bold"/>
                  <a:sym typeface="Muli Bold"/>
                </a:rPr>
                <a:t>On going - Live Dataset</a:t>
              </a:r>
            </a:p>
          </p:txBody>
        </p:sp>
      </p:grpSp>
      <p:grpSp>
        <p:nvGrpSpPr>
          <p:cNvPr id="6" name="Group 6"/>
          <p:cNvGrpSpPr/>
          <p:nvPr/>
        </p:nvGrpSpPr>
        <p:grpSpPr>
          <a:xfrm>
            <a:off x="2071525" y="6172200"/>
            <a:ext cx="14867932" cy="3824685"/>
            <a:chOff x="0" y="0"/>
            <a:chExt cx="3915834" cy="1007324"/>
          </a:xfrm>
        </p:grpSpPr>
        <p:sp>
          <p:nvSpPr>
            <p:cNvPr id="7" name="Freeform 7"/>
            <p:cNvSpPr/>
            <p:nvPr/>
          </p:nvSpPr>
          <p:spPr>
            <a:xfrm>
              <a:off x="0" y="0"/>
              <a:ext cx="3915834" cy="1007324"/>
            </a:xfrm>
            <a:custGeom>
              <a:avLst/>
              <a:gdLst/>
              <a:ahLst/>
              <a:cxnLst/>
              <a:rect l="l" t="t" r="r" b="b"/>
              <a:pathLst>
                <a:path w="3915834" h="1007324">
                  <a:moveTo>
                    <a:pt x="0" y="0"/>
                  </a:moveTo>
                  <a:lnTo>
                    <a:pt x="3915834" y="0"/>
                  </a:lnTo>
                  <a:lnTo>
                    <a:pt x="3915834" y="1007324"/>
                  </a:lnTo>
                  <a:lnTo>
                    <a:pt x="0" y="1007324"/>
                  </a:lnTo>
                  <a:close/>
                </a:path>
              </a:pathLst>
            </a:custGeom>
            <a:solidFill>
              <a:srgbClr val="F4D314"/>
            </a:solidFill>
          </p:spPr>
        </p:sp>
        <p:sp>
          <p:nvSpPr>
            <p:cNvPr id="8" name="TextBox 8"/>
            <p:cNvSpPr txBox="1"/>
            <p:nvPr/>
          </p:nvSpPr>
          <p:spPr>
            <a:xfrm>
              <a:off x="0" y="9525"/>
              <a:ext cx="3915834" cy="997799"/>
            </a:xfrm>
            <a:prstGeom prst="rect">
              <a:avLst/>
            </a:prstGeom>
          </p:spPr>
          <p:txBody>
            <a:bodyPr lIns="50800" tIns="50800" rIns="50800" bIns="50800" rtlCol="0" anchor="ctr"/>
            <a:lstStyle/>
            <a:p>
              <a:pPr algn="ctr">
                <a:lnSpc>
                  <a:spcPts val="2415"/>
                </a:lnSpc>
              </a:pPr>
              <a:endParaRPr/>
            </a:p>
          </p:txBody>
        </p:sp>
      </p:grpSp>
      <p:sp>
        <p:nvSpPr>
          <p:cNvPr id="9" name="TextBox 9"/>
          <p:cNvSpPr txBox="1"/>
          <p:nvPr/>
        </p:nvSpPr>
        <p:spPr>
          <a:xfrm>
            <a:off x="11201079" y="57005"/>
            <a:ext cx="6715709" cy="971695"/>
          </a:xfrm>
          <a:prstGeom prst="rect">
            <a:avLst/>
          </a:prstGeom>
        </p:spPr>
        <p:txBody>
          <a:bodyPr lIns="0" tIns="0" rIns="0" bIns="0" rtlCol="0" anchor="t">
            <a:spAutoFit/>
          </a:bodyPr>
          <a:lstStyle/>
          <a:p>
            <a:pPr marL="0" lvl="0" indent="0" algn="r">
              <a:lnSpc>
                <a:spcPts val="3908"/>
              </a:lnSpc>
            </a:pPr>
            <a:r>
              <a:rPr lang="en-US" sz="2695" spc="404">
                <a:solidFill>
                  <a:srgbClr val="F4D314"/>
                </a:solidFill>
                <a:latin typeface="Muli"/>
                <a:ea typeface="Muli"/>
                <a:cs typeface="Muli"/>
                <a:sym typeface="Muli"/>
              </a:rPr>
              <a:t>NYC SCHOOL BUS DATA ANALYSIS</a:t>
            </a:r>
          </a:p>
        </p:txBody>
      </p:sp>
      <p:sp>
        <p:nvSpPr>
          <p:cNvPr id="10" name="TextBox 10"/>
          <p:cNvSpPr txBox="1"/>
          <p:nvPr/>
        </p:nvSpPr>
        <p:spPr>
          <a:xfrm>
            <a:off x="6151312" y="604765"/>
            <a:ext cx="5985375" cy="1213993"/>
          </a:xfrm>
          <a:prstGeom prst="rect">
            <a:avLst/>
          </a:prstGeom>
        </p:spPr>
        <p:txBody>
          <a:bodyPr lIns="0" tIns="0" rIns="0" bIns="0" rtlCol="0" anchor="t">
            <a:spAutoFit/>
          </a:bodyPr>
          <a:lstStyle/>
          <a:p>
            <a:pPr marL="0" lvl="0" indent="0" algn="ctr">
              <a:lnSpc>
                <a:spcPts val="9407"/>
              </a:lnSpc>
            </a:pPr>
            <a:r>
              <a:rPr lang="en-US" sz="8180">
                <a:solidFill>
                  <a:srgbClr val="FFFFFF"/>
                </a:solidFill>
                <a:latin typeface="League Gothic"/>
                <a:ea typeface="League Gothic"/>
                <a:cs typeface="League Gothic"/>
                <a:sym typeface="League Gothic"/>
              </a:rPr>
              <a:t>DATA SOURCE</a:t>
            </a:r>
          </a:p>
        </p:txBody>
      </p:sp>
      <p:sp>
        <p:nvSpPr>
          <p:cNvPr id="11" name="TextBox 11"/>
          <p:cNvSpPr txBox="1"/>
          <p:nvPr/>
        </p:nvSpPr>
        <p:spPr>
          <a:xfrm>
            <a:off x="6512803" y="5172075"/>
            <a:ext cx="5985375" cy="1213993"/>
          </a:xfrm>
          <a:prstGeom prst="rect">
            <a:avLst/>
          </a:prstGeom>
        </p:spPr>
        <p:txBody>
          <a:bodyPr lIns="0" tIns="0" rIns="0" bIns="0" rtlCol="0" anchor="t">
            <a:spAutoFit/>
          </a:bodyPr>
          <a:lstStyle/>
          <a:p>
            <a:pPr marL="0" lvl="0" indent="0" algn="ctr">
              <a:lnSpc>
                <a:spcPts val="9407"/>
              </a:lnSpc>
            </a:pPr>
            <a:r>
              <a:rPr lang="en-US" sz="8180">
                <a:solidFill>
                  <a:srgbClr val="FFFFFF"/>
                </a:solidFill>
                <a:latin typeface="League Gothic"/>
                <a:ea typeface="League Gothic"/>
                <a:cs typeface="League Gothic"/>
                <a:sym typeface="League Gothic"/>
              </a:rPr>
              <a:t>CLEANING</a:t>
            </a:r>
          </a:p>
        </p:txBody>
      </p:sp>
      <p:sp>
        <p:nvSpPr>
          <p:cNvPr id="12" name="TextBox 12"/>
          <p:cNvSpPr txBox="1"/>
          <p:nvPr/>
        </p:nvSpPr>
        <p:spPr>
          <a:xfrm>
            <a:off x="2071525" y="6683772"/>
            <a:ext cx="14867932" cy="3313112"/>
          </a:xfrm>
          <a:prstGeom prst="rect">
            <a:avLst/>
          </a:prstGeom>
        </p:spPr>
        <p:txBody>
          <a:bodyPr lIns="0" tIns="0" rIns="0" bIns="0" rtlCol="0" anchor="t">
            <a:spAutoFit/>
          </a:bodyPr>
          <a:lstStyle/>
          <a:p>
            <a:pPr marL="647695" lvl="1" indent="-323848" algn="l">
              <a:lnSpc>
                <a:spcPts val="3449"/>
              </a:lnSpc>
              <a:buAutoNum type="arabicPeriod"/>
            </a:pPr>
            <a:r>
              <a:rPr lang="en-US" sz="2999">
                <a:solidFill>
                  <a:srgbClr val="000000"/>
                </a:solidFill>
                <a:latin typeface="Muli"/>
                <a:ea typeface="Muli"/>
                <a:cs typeface="Muli"/>
                <a:sym typeface="Muli"/>
              </a:rPr>
              <a:t>  Remove rows where the date is missing/invalid</a:t>
            </a:r>
          </a:p>
          <a:p>
            <a:pPr marL="647695" lvl="1" indent="-323848" algn="l">
              <a:lnSpc>
                <a:spcPts val="3449"/>
              </a:lnSpc>
              <a:buAutoNum type="arabicPeriod"/>
            </a:pPr>
            <a:r>
              <a:rPr lang="en-US" sz="2999">
                <a:solidFill>
                  <a:srgbClr val="000000"/>
                </a:solidFill>
                <a:latin typeface="Muli"/>
                <a:ea typeface="Muli"/>
                <a:cs typeface="Muli"/>
                <a:sym typeface="Muli"/>
              </a:rPr>
              <a:t>  Filter for a realistic range (e.g., between 2010 and 2026)</a:t>
            </a:r>
          </a:p>
          <a:p>
            <a:pPr marL="647695" lvl="1" indent="-323848" algn="l">
              <a:lnSpc>
                <a:spcPts val="3449"/>
              </a:lnSpc>
              <a:buAutoNum type="arabicPeriod"/>
            </a:pPr>
            <a:r>
              <a:rPr lang="en-US" sz="2999">
                <a:solidFill>
                  <a:srgbClr val="000000"/>
                </a:solidFill>
                <a:latin typeface="Muli"/>
                <a:ea typeface="Muli"/>
                <a:cs typeface="Muli"/>
                <a:sym typeface="Muli"/>
              </a:rPr>
              <a:t>  Create a dedicated, clean year column as an integer</a:t>
            </a:r>
          </a:p>
          <a:p>
            <a:pPr marL="669285" lvl="1" indent="-334642" algn="l">
              <a:lnSpc>
                <a:spcPts val="3564"/>
              </a:lnSpc>
              <a:buAutoNum type="arabicPeriod"/>
            </a:pPr>
            <a:r>
              <a:rPr lang="en-US" sz="3099">
                <a:solidFill>
                  <a:srgbClr val="000000"/>
                </a:solidFill>
                <a:latin typeface="Muli"/>
                <a:ea typeface="Muli"/>
                <a:cs typeface="Muli"/>
                <a:sym typeface="Muli"/>
              </a:rPr>
              <a:t>  Convert 'boro' column to uppercase for consistency an handle missing values</a:t>
            </a:r>
          </a:p>
          <a:p>
            <a:pPr marL="647695" lvl="1" indent="-323848" algn="l">
              <a:lnSpc>
                <a:spcPts val="3449"/>
              </a:lnSpc>
              <a:buAutoNum type="arabicPeriod"/>
            </a:pPr>
            <a:r>
              <a:rPr lang="en-US" sz="2999">
                <a:solidFill>
                  <a:srgbClr val="000000"/>
                </a:solidFill>
                <a:latin typeface="Muli"/>
                <a:ea typeface="Muli"/>
                <a:cs typeface="Muli"/>
                <a:sym typeface="Muli"/>
              </a:rPr>
              <a:t>  Remove any entries labeled as 'ALL BOROUGHS' </a:t>
            </a:r>
          </a:p>
          <a:p>
            <a:pPr marL="647695" lvl="1" indent="-323848" algn="l">
              <a:lnSpc>
                <a:spcPts val="3449"/>
              </a:lnSpc>
              <a:buAutoNum type="arabicPeriod"/>
            </a:pPr>
            <a:r>
              <a:rPr lang="en-US" sz="2999">
                <a:solidFill>
                  <a:srgbClr val="FFFFFF"/>
                </a:solidFill>
                <a:latin typeface="Muli"/>
                <a:ea typeface="Muli"/>
                <a:cs typeface="Muli"/>
                <a:sym typeface="Muli"/>
              </a:rPr>
              <a:t> </a:t>
            </a:r>
            <a:r>
              <a:rPr lang="en-US" sz="2999">
                <a:solidFill>
                  <a:srgbClr val="000000"/>
                </a:solidFill>
                <a:latin typeface="Muli"/>
                <a:ea typeface="Muli"/>
                <a:cs typeface="Muli"/>
                <a:sym typeface="Muli"/>
              </a:rPr>
              <a:t> Remove any entries labeled as 'UNKNOWNS' </a:t>
            </a:r>
          </a:p>
          <a:p>
            <a:pPr algn="l">
              <a:lnSpc>
                <a:spcPts val="2874"/>
              </a:lnSpc>
            </a:pPr>
            <a:endParaRPr lang="en-US" sz="2999">
              <a:solidFill>
                <a:srgbClr val="000000"/>
              </a:solidFill>
              <a:latin typeface="Muli"/>
              <a:ea typeface="Muli"/>
              <a:cs typeface="Muli"/>
              <a:sym typeface="Muli"/>
            </a:endParaRPr>
          </a:p>
          <a:p>
            <a:pPr algn="ctr">
              <a:lnSpc>
                <a:spcPts val="2874"/>
              </a:lnSpc>
              <a:spcBef>
                <a:spcPct val="0"/>
              </a:spcBef>
            </a:pPr>
            <a:endParaRPr lang="en-US" sz="2999">
              <a:solidFill>
                <a:srgbClr val="000000"/>
              </a:solidFill>
              <a:latin typeface="Muli"/>
              <a:ea typeface="Muli"/>
              <a:cs typeface="Muli"/>
              <a:sym typeface="Muli"/>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2864034" y="2286309"/>
            <a:ext cx="9043427" cy="904342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sp>
      </p:grpSp>
      <p:sp>
        <p:nvSpPr>
          <p:cNvPr id="5" name="TextBox 5"/>
          <p:cNvSpPr txBox="1"/>
          <p:nvPr/>
        </p:nvSpPr>
        <p:spPr>
          <a:xfrm>
            <a:off x="578704" y="6866458"/>
            <a:ext cx="8789949" cy="3356610"/>
          </a:xfrm>
          <a:prstGeom prst="rect">
            <a:avLst/>
          </a:prstGeom>
        </p:spPr>
        <p:txBody>
          <a:bodyPr lIns="0" tIns="0" rIns="0" bIns="0" rtlCol="0" anchor="t">
            <a:spAutoFit/>
          </a:bodyPr>
          <a:lstStyle/>
          <a:p>
            <a:pPr algn="ctr">
              <a:lnSpc>
                <a:spcPts val="2415"/>
              </a:lnSpc>
            </a:pPr>
            <a:endParaRPr/>
          </a:p>
          <a:p>
            <a:pPr algn="ctr">
              <a:lnSpc>
                <a:spcPts val="2415"/>
              </a:lnSpc>
            </a:pPr>
            <a:endParaRPr/>
          </a:p>
          <a:p>
            <a:pPr algn="ctr">
              <a:lnSpc>
                <a:spcPts val="2415"/>
              </a:lnSpc>
            </a:pPr>
            <a:endParaRPr/>
          </a:p>
          <a:p>
            <a:pPr algn="ctr">
              <a:lnSpc>
                <a:spcPts val="2415"/>
              </a:lnSpc>
              <a:spcBef>
                <a:spcPct val="0"/>
              </a:spcBef>
            </a:pPr>
            <a:endParaRPr/>
          </a:p>
          <a:p>
            <a:pPr algn="ctr">
              <a:lnSpc>
                <a:spcPts val="2415"/>
              </a:lnSpc>
              <a:spcBef>
                <a:spcPct val="0"/>
              </a:spcBef>
            </a:pPr>
            <a:endParaRPr/>
          </a:p>
          <a:p>
            <a:pPr algn="ctr">
              <a:lnSpc>
                <a:spcPts val="2415"/>
              </a:lnSpc>
              <a:spcBef>
                <a:spcPct val="0"/>
              </a:spcBef>
            </a:pPr>
            <a:endParaRPr/>
          </a:p>
          <a:p>
            <a:pPr algn="ctr">
              <a:lnSpc>
                <a:spcPts val="2415"/>
              </a:lnSpc>
              <a:spcBef>
                <a:spcPct val="0"/>
              </a:spcBef>
            </a:pPr>
            <a:endParaRPr/>
          </a:p>
          <a:p>
            <a:pPr algn="ctr">
              <a:lnSpc>
                <a:spcPts val="2415"/>
              </a:lnSpc>
              <a:spcBef>
                <a:spcPct val="0"/>
              </a:spcBef>
            </a:pPr>
            <a:endParaRPr/>
          </a:p>
          <a:p>
            <a:pPr algn="ctr">
              <a:lnSpc>
                <a:spcPts val="2415"/>
              </a:lnSpc>
              <a:spcBef>
                <a:spcPct val="0"/>
              </a:spcBef>
            </a:pPr>
            <a:endParaRPr/>
          </a:p>
          <a:p>
            <a:pPr algn="ctr">
              <a:lnSpc>
                <a:spcPts val="2415"/>
              </a:lnSpc>
              <a:spcBef>
                <a:spcPct val="0"/>
              </a:spcBef>
            </a:pPr>
            <a:endParaRPr/>
          </a:p>
          <a:p>
            <a:pPr algn="ctr">
              <a:lnSpc>
                <a:spcPts val="2415"/>
              </a:lnSpc>
              <a:spcBef>
                <a:spcPct val="0"/>
              </a:spcBef>
            </a:pPr>
            <a:endParaRPr/>
          </a:p>
        </p:txBody>
      </p:sp>
      <p:grpSp>
        <p:nvGrpSpPr>
          <p:cNvPr id="6" name="Group 6"/>
          <p:cNvGrpSpPr/>
          <p:nvPr/>
        </p:nvGrpSpPr>
        <p:grpSpPr>
          <a:xfrm>
            <a:off x="10428692" y="3181607"/>
            <a:ext cx="6830608" cy="910135"/>
            <a:chOff x="0" y="0"/>
            <a:chExt cx="1799008" cy="239706"/>
          </a:xfrm>
        </p:grpSpPr>
        <p:sp>
          <p:nvSpPr>
            <p:cNvPr id="7" name="Freeform 7"/>
            <p:cNvSpPr/>
            <p:nvPr/>
          </p:nvSpPr>
          <p:spPr>
            <a:xfrm>
              <a:off x="0" y="0"/>
              <a:ext cx="1799008" cy="239706"/>
            </a:xfrm>
            <a:custGeom>
              <a:avLst/>
              <a:gdLst/>
              <a:ahLst/>
              <a:cxnLst/>
              <a:rect l="l" t="t" r="r" b="b"/>
              <a:pathLst>
                <a:path w="1799008" h="239706">
                  <a:moveTo>
                    <a:pt x="22668" y="0"/>
                  </a:moveTo>
                  <a:lnTo>
                    <a:pt x="1776340" y="0"/>
                  </a:lnTo>
                  <a:cubicBezTo>
                    <a:pt x="1788859" y="0"/>
                    <a:pt x="1799008" y="10149"/>
                    <a:pt x="1799008" y="22668"/>
                  </a:cubicBezTo>
                  <a:lnTo>
                    <a:pt x="1799008" y="217038"/>
                  </a:lnTo>
                  <a:cubicBezTo>
                    <a:pt x="1799008" y="223050"/>
                    <a:pt x="1796620" y="228816"/>
                    <a:pt x="1792369" y="233067"/>
                  </a:cubicBezTo>
                  <a:cubicBezTo>
                    <a:pt x="1788117" y="237318"/>
                    <a:pt x="1782352" y="239706"/>
                    <a:pt x="1776340" y="239706"/>
                  </a:cubicBezTo>
                  <a:lnTo>
                    <a:pt x="22668" y="239706"/>
                  </a:lnTo>
                  <a:cubicBezTo>
                    <a:pt x="16656" y="239706"/>
                    <a:pt x="10891" y="237318"/>
                    <a:pt x="6639" y="233067"/>
                  </a:cubicBezTo>
                  <a:cubicBezTo>
                    <a:pt x="2388" y="228816"/>
                    <a:pt x="0" y="223050"/>
                    <a:pt x="0" y="217038"/>
                  </a:cubicBezTo>
                  <a:lnTo>
                    <a:pt x="0" y="22668"/>
                  </a:lnTo>
                  <a:cubicBezTo>
                    <a:pt x="0" y="16656"/>
                    <a:pt x="2388" y="10891"/>
                    <a:pt x="6639" y="6639"/>
                  </a:cubicBezTo>
                  <a:cubicBezTo>
                    <a:pt x="10891" y="2388"/>
                    <a:pt x="16656" y="0"/>
                    <a:pt x="22668" y="0"/>
                  </a:cubicBezTo>
                  <a:close/>
                </a:path>
              </a:pathLst>
            </a:custGeom>
            <a:ln w="161925" cap="sq">
              <a:solidFill>
                <a:srgbClr val="F4D314"/>
              </a:solidFill>
              <a:prstDash val="solid"/>
              <a:miter/>
            </a:ln>
          </p:spPr>
        </p:sp>
        <p:sp>
          <p:nvSpPr>
            <p:cNvPr id="8" name="TextBox 8"/>
            <p:cNvSpPr txBox="1"/>
            <p:nvPr/>
          </p:nvSpPr>
          <p:spPr>
            <a:xfrm>
              <a:off x="0" y="0"/>
              <a:ext cx="1799008" cy="239706"/>
            </a:xfrm>
            <a:prstGeom prst="rect">
              <a:avLst/>
            </a:prstGeom>
          </p:spPr>
          <p:txBody>
            <a:bodyPr lIns="50800" tIns="50800" rIns="50800" bIns="50800" rtlCol="0" anchor="ctr"/>
            <a:lstStyle/>
            <a:p>
              <a:pPr marL="0" lvl="0" indent="0" algn="ctr">
                <a:lnSpc>
                  <a:spcPts val="2879"/>
                </a:lnSpc>
              </a:pPr>
              <a:endParaRPr/>
            </a:p>
          </p:txBody>
        </p:sp>
      </p:grpSp>
      <p:grpSp>
        <p:nvGrpSpPr>
          <p:cNvPr id="9" name="Group 9"/>
          <p:cNvGrpSpPr/>
          <p:nvPr/>
        </p:nvGrpSpPr>
        <p:grpSpPr>
          <a:xfrm>
            <a:off x="10428692" y="4272717"/>
            <a:ext cx="6830608" cy="910135"/>
            <a:chOff x="0" y="0"/>
            <a:chExt cx="1799008" cy="239706"/>
          </a:xfrm>
        </p:grpSpPr>
        <p:sp>
          <p:nvSpPr>
            <p:cNvPr id="10" name="Freeform 10"/>
            <p:cNvSpPr/>
            <p:nvPr/>
          </p:nvSpPr>
          <p:spPr>
            <a:xfrm>
              <a:off x="0" y="0"/>
              <a:ext cx="1799008" cy="239706"/>
            </a:xfrm>
            <a:custGeom>
              <a:avLst/>
              <a:gdLst/>
              <a:ahLst/>
              <a:cxnLst/>
              <a:rect l="l" t="t" r="r" b="b"/>
              <a:pathLst>
                <a:path w="1799008" h="239706">
                  <a:moveTo>
                    <a:pt x="22668" y="0"/>
                  </a:moveTo>
                  <a:lnTo>
                    <a:pt x="1776340" y="0"/>
                  </a:lnTo>
                  <a:cubicBezTo>
                    <a:pt x="1788859" y="0"/>
                    <a:pt x="1799008" y="10149"/>
                    <a:pt x="1799008" y="22668"/>
                  </a:cubicBezTo>
                  <a:lnTo>
                    <a:pt x="1799008" y="217038"/>
                  </a:lnTo>
                  <a:cubicBezTo>
                    <a:pt x="1799008" y="223050"/>
                    <a:pt x="1796620" y="228816"/>
                    <a:pt x="1792369" y="233067"/>
                  </a:cubicBezTo>
                  <a:cubicBezTo>
                    <a:pt x="1788117" y="237318"/>
                    <a:pt x="1782352" y="239706"/>
                    <a:pt x="1776340" y="239706"/>
                  </a:cubicBezTo>
                  <a:lnTo>
                    <a:pt x="22668" y="239706"/>
                  </a:lnTo>
                  <a:cubicBezTo>
                    <a:pt x="16656" y="239706"/>
                    <a:pt x="10891" y="237318"/>
                    <a:pt x="6639" y="233067"/>
                  </a:cubicBezTo>
                  <a:cubicBezTo>
                    <a:pt x="2388" y="228816"/>
                    <a:pt x="0" y="223050"/>
                    <a:pt x="0" y="217038"/>
                  </a:cubicBezTo>
                  <a:lnTo>
                    <a:pt x="0" y="22668"/>
                  </a:lnTo>
                  <a:cubicBezTo>
                    <a:pt x="0" y="16656"/>
                    <a:pt x="2388" y="10891"/>
                    <a:pt x="6639" y="6639"/>
                  </a:cubicBezTo>
                  <a:cubicBezTo>
                    <a:pt x="10891" y="2388"/>
                    <a:pt x="16656" y="0"/>
                    <a:pt x="22668" y="0"/>
                  </a:cubicBezTo>
                  <a:close/>
                </a:path>
              </a:pathLst>
            </a:custGeom>
            <a:ln w="161925" cap="sq">
              <a:solidFill>
                <a:srgbClr val="F4D314"/>
              </a:solidFill>
              <a:prstDash val="solid"/>
              <a:miter/>
            </a:ln>
          </p:spPr>
        </p:sp>
        <p:sp>
          <p:nvSpPr>
            <p:cNvPr id="11" name="TextBox 11"/>
            <p:cNvSpPr txBox="1"/>
            <p:nvPr/>
          </p:nvSpPr>
          <p:spPr>
            <a:xfrm>
              <a:off x="0" y="0"/>
              <a:ext cx="1799008" cy="239706"/>
            </a:xfrm>
            <a:prstGeom prst="rect">
              <a:avLst/>
            </a:prstGeom>
          </p:spPr>
          <p:txBody>
            <a:bodyPr lIns="50800" tIns="50800" rIns="50800" bIns="50800" rtlCol="0" anchor="ctr"/>
            <a:lstStyle/>
            <a:p>
              <a:pPr marL="0" lvl="0" indent="0" algn="ctr">
                <a:lnSpc>
                  <a:spcPts val="2879"/>
                </a:lnSpc>
              </a:pPr>
              <a:endParaRPr/>
            </a:p>
          </p:txBody>
        </p:sp>
      </p:grpSp>
      <p:grpSp>
        <p:nvGrpSpPr>
          <p:cNvPr id="12" name="Group 12"/>
          <p:cNvGrpSpPr/>
          <p:nvPr/>
        </p:nvGrpSpPr>
        <p:grpSpPr>
          <a:xfrm>
            <a:off x="10428692" y="5484355"/>
            <a:ext cx="6830608" cy="910135"/>
            <a:chOff x="0" y="0"/>
            <a:chExt cx="1799008" cy="239706"/>
          </a:xfrm>
        </p:grpSpPr>
        <p:sp>
          <p:nvSpPr>
            <p:cNvPr id="13" name="Freeform 13"/>
            <p:cNvSpPr/>
            <p:nvPr/>
          </p:nvSpPr>
          <p:spPr>
            <a:xfrm>
              <a:off x="0" y="0"/>
              <a:ext cx="1799008" cy="239706"/>
            </a:xfrm>
            <a:custGeom>
              <a:avLst/>
              <a:gdLst/>
              <a:ahLst/>
              <a:cxnLst/>
              <a:rect l="l" t="t" r="r" b="b"/>
              <a:pathLst>
                <a:path w="1799008" h="239706">
                  <a:moveTo>
                    <a:pt x="22668" y="0"/>
                  </a:moveTo>
                  <a:lnTo>
                    <a:pt x="1776340" y="0"/>
                  </a:lnTo>
                  <a:cubicBezTo>
                    <a:pt x="1788859" y="0"/>
                    <a:pt x="1799008" y="10149"/>
                    <a:pt x="1799008" y="22668"/>
                  </a:cubicBezTo>
                  <a:lnTo>
                    <a:pt x="1799008" y="217038"/>
                  </a:lnTo>
                  <a:cubicBezTo>
                    <a:pt x="1799008" y="223050"/>
                    <a:pt x="1796620" y="228816"/>
                    <a:pt x="1792369" y="233067"/>
                  </a:cubicBezTo>
                  <a:cubicBezTo>
                    <a:pt x="1788117" y="237318"/>
                    <a:pt x="1782352" y="239706"/>
                    <a:pt x="1776340" y="239706"/>
                  </a:cubicBezTo>
                  <a:lnTo>
                    <a:pt x="22668" y="239706"/>
                  </a:lnTo>
                  <a:cubicBezTo>
                    <a:pt x="16656" y="239706"/>
                    <a:pt x="10891" y="237318"/>
                    <a:pt x="6639" y="233067"/>
                  </a:cubicBezTo>
                  <a:cubicBezTo>
                    <a:pt x="2388" y="228816"/>
                    <a:pt x="0" y="223050"/>
                    <a:pt x="0" y="217038"/>
                  </a:cubicBezTo>
                  <a:lnTo>
                    <a:pt x="0" y="22668"/>
                  </a:lnTo>
                  <a:cubicBezTo>
                    <a:pt x="0" y="16656"/>
                    <a:pt x="2388" y="10891"/>
                    <a:pt x="6639" y="6639"/>
                  </a:cubicBezTo>
                  <a:cubicBezTo>
                    <a:pt x="10891" y="2388"/>
                    <a:pt x="16656" y="0"/>
                    <a:pt x="22668" y="0"/>
                  </a:cubicBezTo>
                  <a:close/>
                </a:path>
              </a:pathLst>
            </a:custGeom>
            <a:ln w="161925" cap="sq">
              <a:solidFill>
                <a:srgbClr val="F4D314"/>
              </a:solidFill>
              <a:prstDash val="solid"/>
              <a:miter/>
            </a:ln>
          </p:spPr>
        </p:sp>
        <p:sp>
          <p:nvSpPr>
            <p:cNvPr id="14" name="TextBox 14"/>
            <p:cNvSpPr txBox="1"/>
            <p:nvPr/>
          </p:nvSpPr>
          <p:spPr>
            <a:xfrm>
              <a:off x="0" y="0"/>
              <a:ext cx="1799008" cy="239706"/>
            </a:xfrm>
            <a:prstGeom prst="rect">
              <a:avLst/>
            </a:prstGeom>
          </p:spPr>
          <p:txBody>
            <a:bodyPr lIns="50800" tIns="50800" rIns="50800" bIns="50800" rtlCol="0" anchor="ctr"/>
            <a:lstStyle/>
            <a:p>
              <a:pPr marL="0" lvl="0" indent="0" algn="ctr">
                <a:lnSpc>
                  <a:spcPts val="2879"/>
                </a:lnSpc>
              </a:pPr>
              <a:endParaRPr/>
            </a:p>
          </p:txBody>
        </p:sp>
      </p:grpSp>
      <p:grpSp>
        <p:nvGrpSpPr>
          <p:cNvPr id="15" name="Group 15"/>
          <p:cNvGrpSpPr/>
          <p:nvPr/>
        </p:nvGrpSpPr>
        <p:grpSpPr>
          <a:xfrm>
            <a:off x="10428692" y="6809391"/>
            <a:ext cx="6830608" cy="910135"/>
            <a:chOff x="0" y="0"/>
            <a:chExt cx="1799008" cy="239706"/>
          </a:xfrm>
        </p:grpSpPr>
        <p:sp>
          <p:nvSpPr>
            <p:cNvPr id="16" name="Freeform 16"/>
            <p:cNvSpPr/>
            <p:nvPr/>
          </p:nvSpPr>
          <p:spPr>
            <a:xfrm>
              <a:off x="0" y="0"/>
              <a:ext cx="1799008" cy="239706"/>
            </a:xfrm>
            <a:custGeom>
              <a:avLst/>
              <a:gdLst/>
              <a:ahLst/>
              <a:cxnLst/>
              <a:rect l="l" t="t" r="r" b="b"/>
              <a:pathLst>
                <a:path w="1799008" h="239706">
                  <a:moveTo>
                    <a:pt x="22668" y="0"/>
                  </a:moveTo>
                  <a:lnTo>
                    <a:pt x="1776340" y="0"/>
                  </a:lnTo>
                  <a:cubicBezTo>
                    <a:pt x="1788859" y="0"/>
                    <a:pt x="1799008" y="10149"/>
                    <a:pt x="1799008" y="22668"/>
                  </a:cubicBezTo>
                  <a:lnTo>
                    <a:pt x="1799008" y="217038"/>
                  </a:lnTo>
                  <a:cubicBezTo>
                    <a:pt x="1799008" y="223050"/>
                    <a:pt x="1796620" y="228816"/>
                    <a:pt x="1792369" y="233067"/>
                  </a:cubicBezTo>
                  <a:cubicBezTo>
                    <a:pt x="1788117" y="237318"/>
                    <a:pt x="1782352" y="239706"/>
                    <a:pt x="1776340" y="239706"/>
                  </a:cubicBezTo>
                  <a:lnTo>
                    <a:pt x="22668" y="239706"/>
                  </a:lnTo>
                  <a:cubicBezTo>
                    <a:pt x="16656" y="239706"/>
                    <a:pt x="10891" y="237318"/>
                    <a:pt x="6639" y="233067"/>
                  </a:cubicBezTo>
                  <a:cubicBezTo>
                    <a:pt x="2388" y="228816"/>
                    <a:pt x="0" y="223050"/>
                    <a:pt x="0" y="217038"/>
                  </a:cubicBezTo>
                  <a:lnTo>
                    <a:pt x="0" y="22668"/>
                  </a:lnTo>
                  <a:cubicBezTo>
                    <a:pt x="0" y="16656"/>
                    <a:pt x="2388" y="10891"/>
                    <a:pt x="6639" y="6639"/>
                  </a:cubicBezTo>
                  <a:cubicBezTo>
                    <a:pt x="10891" y="2388"/>
                    <a:pt x="16656" y="0"/>
                    <a:pt x="22668" y="0"/>
                  </a:cubicBezTo>
                  <a:close/>
                </a:path>
              </a:pathLst>
            </a:custGeom>
            <a:ln w="161925" cap="sq">
              <a:solidFill>
                <a:srgbClr val="F4D314"/>
              </a:solidFill>
              <a:prstDash val="solid"/>
              <a:miter/>
            </a:ln>
          </p:spPr>
        </p:sp>
        <p:sp>
          <p:nvSpPr>
            <p:cNvPr id="17" name="TextBox 17"/>
            <p:cNvSpPr txBox="1"/>
            <p:nvPr/>
          </p:nvSpPr>
          <p:spPr>
            <a:xfrm>
              <a:off x="0" y="0"/>
              <a:ext cx="1799008" cy="239706"/>
            </a:xfrm>
            <a:prstGeom prst="rect">
              <a:avLst/>
            </a:prstGeom>
          </p:spPr>
          <p:txBody>
            <a:bodyPr lIns="50800" tIns="50800" rIns="50800" bIns="50800" rtlCol="0" anchor="ctr"/>
            <a:lstStyle/>
            <a:p>
              <a:pPr marL="0" lvl="0" indent="0" algn="ctr">
                <a:lnSpc>
                  <a:spcPts val="2879"/>
                </a:lnSpc>
              </a:pPr>
              <a:endParaRPr/>
            </a:p>
          </p:txBody>
        </p:sp>
      </p:grpSp>
      <p:grpSp>
        <p:nvGrpSpPr>
          <p:cNvPr id="18" name="Group 18"/>
          <p:cNvGrpSpPr/>
          <p:nvPr/>
        </p:nvGrpSpPr>
        <p:grpSpPr>
          <a:xfrm>
            <a:off x="578704" y="3249183"/>
            <a:ext cx="7613425" cy="4470343"/>
            <a:chOff x="0" y="0"/>
            <a:chExt cx="2005182" cy="1177374"/>
          </a:xfrm>
        </p:grpSpPr>
        <p:sp>
          <p:nvSpPr>
            <p:cNvPr id="19" name="Freeform 19"/>
            <p:cNvSpPr/>
            <p:nvPr/>
          </p:nvSpPr>
          <p:spPr>
            <a:xfrm>
              <a:off x="0" y="0"/>
              <a:ext cx="2005182" cy="1177374"/>
            </a:xfrm>
            <a:custGeom>
              <a:avLst/>
              <a:gdLst/>
              <a:ahLst/>
              <a:cxnLst/>
              <a:rect l="l" t="t" r="r" b="b"/>
              <a:pathLst>
                <a:path w="2005182" h="1177374">
                  <a:moveTo>
                    <a:pt x="20338" y="0"/>
                  </a:moveTo>
                  <a:lnTo>
                    <a:pt x="1984845" y="0"/>
                  </a:lnTo>
                  <a:cubicBezTo>
                    <a:pt x="1990238" y="0"/>
                    <a:pt x="1995411" y="2143"/>
                    <a:pt x="1999225" y="5957"/>
                  </a:cubicBezTo>
                  <a:cubicBezTo>
                    <a:pt x="2003039" y="9771"/>
                    <a:pt x="2005182" y="14944"/>
                    <a:pt x="2005182" y="20338"/>
                  </a:cubicBezTo>
                  <a:lnTo>
                    <a:pt x="2005182" y="1157037"/>
                  </a:lnTo>
                  <a:cubicBezTo>
                    <a:pt x="2005182" y="1162431"/>
                    <a:pt x="2003039" y="1167604"/>
                    <a:pt x="1999225" y="1171418"/>
                  </a:cubicBezTo>
                  <a:cubicBezTo>
                    <a:pt x="1995411" y="1175232"/>
                    <a:pt x="1990238" y="1177374"/>
                    <a:pt x="1984845" y="1177374"/>
                  </a:cubicBezTo>
                  <a:lnTo>
                    <a:pt x="20338" y="1177374"/>
                  </a:lnTo>
                  <a:cubicBezTo>
                    <a:pt x="14944" y="1177374"/>
                    <a:pt x="9771" y="1175232"/>
                    <a:pt x="5957" y="1171418"/>
                  </a:cubicBezTo>
                  <a:cubicBezTo>
                    <a:pt x="2143" y="1167604"/>
                    <a:pt x="0" y="1162431"/>
                    <a:pt x="0" y="1157037"/>
                  </a:cubicBezTo>
                  <a:lnTo>
                    <a:pt x="0" y="20338"/>
                  </a:lnTo>
                  <a:cubicBezTo>
                    <a:pt x="0" y="14944"/>
                    <a:pt x="2143" y="9771"/>
                    <a:pt x="5957" y="5957"/>
                  </a:cubicBezTo>
                  <a:cubicBezTo>
                    <a:pt x="9771" y="2143"/>
                    <a:pt x="14944" y="0"/>
                    <a:pt x="20338" y="0"/>
                  </a:cubicBezTo>
                  <a:close/>
                </a:path>
              </a:pathLst>
            </a:custGeom>
            <a:solidFill>
              <a:srgbClr val="F4D314"/>
            </a:solidFill>
            <a:ln w="38100" cap="sq">
              <a:solidFill>
                <a:srgbClr val="000000"/>
              </a:solidFill>
              <a:prstDash val="solid"/>
              <a:miter/>
            </a:ln>
          </p:spPr>
        </p:sp>
        <p:sp>
          <p:nvSpPr>
            <p:cNvPr id="20" name="TextBox 20"/>
            <p:cNvSpPr txBox="1"/>
            <p:nvPr/>
          </p:nvSpPr>
          <p:spPr>
            <a:xfrm>
              <a:off x="0" y="0"/>
              <a:ext cx="2005182" cy="1177374"/>
            </a:xfrm>
            <a:prstGeom prst="rect">
              <a:avLst/>
            </a:prstGeom>
          </p:spPr>
          <p:txBody>
            <a:bodyPr lIns="50800" tIns="50800" rIns="50800" bIns="50800" rtlCol="0" anchor="ctr"/>
            <a:lstStyle/>
            <a:p>
              <a:pPr marL="0" lvl="0" indent="0" algn="ctr">
                <a:lnSpc>
                  <a:spcPts val="2879"/>
                </a:lnSpc>
              </a:pPr>
              <a:endParaRPr/>
            </a:p>
          </p:txBody>
        </p:sp>
      </p:grpSp>
      <p:sp>
        <p:nvSpPr>
          <p:cNvPr id="21" name="Freeform 21"/>
          <p:cNvSpPr/>
          <p:nvPr/>
        </p:nvSpPr>
        <p:spPr>
          <a:xfrm>
            <a:off x="8154029" y="4829326"/>
            <a:ext cx="1119052" cy="942228"/>
          </a:xfrm>
          <a:custGeom>
            <a:avLst/>
            <a:gdLst/>
            <a:ahLst/>
            <a:cxnLst/>
            <a:rect l="l" t="t" r="r" b="b"/>
            <a:pathLst>
              <a:path w="1119052" h="942228">
                <a:moveTo>
                  <a:pt x="0" y="0"/>
                </a:moveTo>
                <a:lnTo>
                  <a:pt x="1119052" y="0"/>
                </a:lnTo>
                <a:lnTo>
                  <a:pt x="1119052" y="942228"/>
                </a:lnTo>
                <a:lnTo>
                  <a:pt x="0" y="942228"/>
                </a:lnTo>
                <a:lnTo>
                  <a:pt x="0" y="0"/>
                </a:lnTo>
                <a:close/>
              </a:path>
            </a:pathLst>
          </a:custGeom>
          <a:blipFill>
            <a:blip r:embed="rId4"/>
            <a:stretch>
              <a:fillRect l="-35804"/>
            </a:stretch>
          </a:blipFill>
        </p:spPr>
      </p:sp>
      <p:sp>
        <p:nvSpPr>
          <p:cNvPr id="22" name="Freeform 22"/>
          <p:cNvSpPr/>
          <p:nvPr/>
        </p:nvSpPr>
        <p:spPr>
          <a:xfrm>
            <a:off x="9220901" y="3397137"/>
            <a:ext cx="52180" cy="4174434"/>
          </a:xfrm>
          <a:custGeom>
            <a:avLst/>
            <a:gdLst/>
            <a:ahLst/>
            <a:cxnLst/>
            <a:rect l="l" t="t" r="r" b="b"/>
            <a:pathLst>
              <a:path w="52180" h="4174434">
                <a:moveTo>
                  <a:pt x="0" y="0"/>
                </a:moveTo>
                <a:lnTo>
                  <a:pt x="52180" y="0"/>
                </a:lnTo>
                <a:lnTo>
                  <a:pt x="52180" y="4174435"/>
                </a:lnTo>
                <a:lnTo>
                  <a:pt x="0" y="4174435"/>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23" name="TextBox 23"/>
          <p:cNvSpPr txBox="1"/>
          <p:nvPr/>
        </p:nvSpPr>
        <p:spPr>
          <a:xfrm>
            <a:off x="10536521" y="3592924"/>
            <a:ext cx="6830608" cy="613410"/>
          </a:xfrm>
          <a:prstGeom prst="rect">
            <a:avLst/>
          </a:prstGeom>
        </p:spPr>
        <p:txBody>
          <a:bodyPr lIns="0" tIns="0" rIns="0" bIns="0" rtlCol="0" anchor="t">
            <a:spAutoFit/>
          </a:bodyPr>
          <a:lstStyle/>
          <a:p>
            <a:pPr algn="ctr">
              <a:lnSpc>
                <a:spcPts val="2415"/>
              </a:lnSpc>
              <a:spcBef>
                <a:spcPct val="0"/>
              </a:spcBef>
            </a:pPr>
            <a:r>
              <a:rPr lang="en-US" sz="2100" spc="-63">
                <a:solidFill>
                  <a:srgbClr val="FFFFFF"/>
                </a:solidFill>
                <a:latin typeface="Muli"/>
                <a:ea typeface="Muli"/>
                <a:cs typeface="Muli"/>
                <a:sym typeface="Muli"/>
              </a:rPr>
              <a:t>~20,000 INCIDENTS WITH UNKNOWN DATA</a:t>
            </a:r>
          </a:p>
          <a:p>
            <a:pPr algn="ctr">
              <a:lnSpc>
                <a:spcPts val="2415"/>
              </a:lnSpc>
              <a:spcBef>
                <a:spcPct val="0"/>
              </a:spcBef>
            </a:pPr>
            <a:endParaRPr lang="en-US" sz="2100" spc="-63">
              <a:solidFill>
                <a:srgbClr val="FFFFFF"/>
              </a:solidFill>
              <a:latin typeface="Muli"/>
              <a:ea typeface="Muli"/>
              <a:cs typeface="Muli"/>
              <a:sym typeface="Muli"/>
            </a:endParaRPr>
          </a:p>
        </p:txBody>
      </p:sp>
      <p:sp>
        <p:nvSpPr>
          <p:cNvPr id="24" name="TextBox 24"/>
          <p:cNvSpPr txBox="1"/>
          <p:nvPr/>
        </p:nvSpPr>
        <p:spPr>
          <a:xfrm>
            <a:off x="10428692" y="4689970"/>
            <a:ext cx="6830608" cy="613410"/>
          </a:xfrm>
          <a:prstGeom prst="rect">
            <a:avLst/>
          </a:prstGeom>
        </p:spPr>
        <p:txBody>
          <a:bodyPr lIns="0" tIns="0" rIns="0" bIns="0" rtlCol="0" anchor="t">
            <a:spAutoFit/>
          </a:bodyPr>
          <a:lstStyle/>
          <a:p>
            <a:pPr algn="ctr">
              <a:lnSpc>
                <a:spcPts val="2415"/>
              </a:lnSpc>
              <a:spcBef>
                <a:spcPct val="0"/>
              </a:spcBef>
            </a:pPr>
            <a:r>
              <a:rPr lang="en-US" sz="2100" spc="-63">
                <a:solidFill>
                  <a:srgbClr val="FFFFFF"/>
                </a:solidFill>
                <a:latin typeface="Muli"/>
                <a:ea typeface="Muli"/>
                <a:cs typeface="Muli"/>
                <a:sym typeface="Muli"/>
              </a:rPr>
              <a:t>MISSING BOROUGH INFORMATION</a:t>
            </a:r>
          </a:p>
          <a:p>
            <a:pPr algn="ctr">
              <a:lnSpc>
                <a:spcPts val="2415"/>
              </a:lnSpc>
              <a:spcBef>
                <a:spcPct val="0"/>
              </a:spcBef>
            </a:pPr>
            <a:endParaRPr lang="en-US" sz="2100" spc="-63">
              <a:solidFill>
                <a:srgbClr val="FFFFFF"/>
              </a:solidFill>
              <a:latin typeface="Muli"/>
              <a:ea typeface="Muli"/>
              <a:cs typeface="Muli"/>
              <a:sym typeface="Muli"/>
            </a:endParaRPr>
          </a:p>
        </p:txBody>
      </p:sp>
      <p:sp>
        <p:nvSpPr>
          <p:cNvPr id="25" name="TextBox 25"/>
          <p:cNvSpPr txBox="1"/>
          <p:nvPr/>
        </p:nvSpPr>
        <p:spPr>
          <a:xfrm>
            <a:off x="11601727" y="5781079"/>
            <a:ext cx="4700196" cy="613410"/>
          </a:xfrm>
          <a:prstGeom prst="rect">
            <a:avLst/>
          </a:prstGeom>
        </p:spPr>
        <p:txBody>
          <a:bodyPr lIns="0" tIns="0" rIns="0" bIns="0" rtlCol="0" anchor="t">
            <a:spAutoFit/>
          </a:bodyPr>
          <a:lstStyle/>
          <a:p>
            <a:pPr algn="ctr">
              <a:lnSpc>
                <a:spcPts val="2415"/>
              </a:lnSpc>
              <a:spcBef>
                <a:spcPct val="0"/>
              </a:spcBef>
            </a:pPr>
            <a:r>
              <a:rPr lang="en-US" sz="2100" spc="-63">
                <a:solidFill>
                  <a:srgbClr val="FFFFFF"/>
                </a:solidFill>
                <a:latin typeface="Muli"/>
                <a:ea typeface="Muli"/>
                <a:cs typeface="Muli"/>
                <a:sym typeface="Muli"/>
              </a:rPr>
              <a:t>UNKNOWN DELAY REASONS</a:t>
            </a:r>
          </a:p>
          <a:p>
            <a:pPr algn="ctr">
              <a:lnSpc>
                <a:spcPts val="2415"/>
              </a:lnSpc>
              <a:spcBef>
                <a:spcPct val="0"/>
              </a:spcBef>
            </a:pPr>
            <a:endParaRPr lang="en-US" sz="2100" spc="-63">
              <a:solidFill>
                <a:srgbClr val="FFFFFF"/>
              </a:solidFill>
              <a:latin typeface="Muli"/>
              <a:ea typeface="Muli"/>
              <a:cs typeface="Muli"/>
              <a:sym typeface="Muli"/>
            </a:endParaRPr>
          </a:p>
        </p:txBody>
      </p:sp>
      <p:sp>
        <p:nvSpPr>
          <p:cNvPr id="26" name="TextBox 26"/>
          <p:cNvSpPr txBox="1"/>
          <p:nvPr/>
        </p:nvSpPr>
        <p:spPr>
          <a:xfrm>
            <a:off x="718725" y="3679050"/>
            <a:ext cx="7473404" cy="4040476"/>
          </a:xfrm>
          <a:prstGeom prst="rect">
            <a:avLst/>
          </a:prstGeom>
        </p:spPr>
        <p:txBody>
          <a:bodyPr lIns="0" tIns="0" rIns="0" bIns="0" rtlCol="0" anchor="t">
            <a:spAutoFit/>
          </a:bodyPr>
          <a:lstStyle/>
          <a:p>
            <a:pPr marL="0" lvl="0" indent="0" algn="l">
              <a:lnSpc>
                <a:spcPts val="3977"/>
              </a:lnSpc>
            </a:pPr>
            <a:r>
              <a:rPr lang="en-US" sz="3458" spc="-103">
                <a:solidFill>
                  <a:srgbClr val="000000"/>
                </a:solidFill>
                <a:latin typeface="Muli"/>
                <a:ea typeface="Muli"/>
                <a:cs typeface="Muli"/>
                <a:sym typeface="Muli"/>
              </a:rPr>
              <a:t>Data quality issues present significant challenges for comprehensive analysis. Approximately 20,000 incidents are marked as "UNKNOWN" for borough or delay reason, limiting the ability to fully understand delay patterns and allocate resources effectively.</a:t>
            </a:r>
          </a:p>
          <a:p>
            <a:pPr marL="0" lvl="0" indent="0" algn="l">
              <a:lnSpc>
                <a:spcPts val="3977"/>
              </a:lnSpc>
            </a:pPr>
            <a:endParaRPr lang="en-US" sz="3458" spc="-103">
              <a:solidFill>
                <a:srgbClr val="000000"/>
              </a:solidFill>
              <a:latin typeface="Muli"/>
              <a:ea typeface="Muli"/>
              <a:cs typeface="Muli"/>
              <a:sym typeface="Muli"/>
            </a:endParaRPr>
          </a:p>
        </p:txBody>
      </p:sp>
      <p:sp>
        <p:nvSpPr>
          <p:cNvPr id="27" name="TextBox 27"/>
          <p:cNvSpPr txBox="1"/>
          <p:nvPr/>
        </p:nvSpPr>
        <p:spPr>
          <a:xfrm>
            <a:off x="11069124" y="560095"/>
            <a:ext cx="6715709" cy="1006475"/>
          </a:xfrm>
          <a:prstGeom prst="rect">
            <a:avLst/>
          </a:prstGeom>
        </p:spPr>
        <p:txBody>
          <a:bodyPr lIns="0" tIns="0" rIns="0" bIns="0" rtlCol="0" anchor="t">
            <a:spAutoFit/>
          </a:bodyPr>
          <a:lstStyle/>
          <a:p>
            <a:pPr marL="0" lvl="0" indent="0" algn="r">
              <a:lnSpc>
                <a:spcPts val="4059"/>
              </a:lnSpc>
            </a:pPr>
            <a:r>
              <a:rPr lang="en-US" sz="2799" spc="419">
                <a:solidFill>
                  <a:srgbClr val="F4D314"/>
                </a:solidFill>
                <a:latin typeface="Muli"/>
                <a:ea typeface="Muli"/>
                <a:cs typeface="Muli"/>
                <a:sym typeface="Muli"/>
              </a:rPr>
              <a:t>NYC SCHOOL BUS DATA ANALYSIS</a:t>
            </a:r>
          </a:p>
        </p:txBody>
      </p:sp>
      <p:sp>
        <p:nvSpPr>
          <p:cNvPr id="28" name="TextBox 28"/>
          <p:cNvSpPr txBox="1"/>
          <p:nvPr/>
        </p:nvSpPr>
        <p:spPr>
          <a:xfrm>
            <a:off x="536489" y="1897946"/>
            <a:ext cx="7655641" cy="1283661"/>
          </a:xfrm>
          <a:prstGeom prst="rect">
            <a:avLst/>
          </a:prstGeom>
        </p:spPr>
        <p:txBody>
          <a:bodyPr lIns="0" tIns="0" rIns="0" bIns="0" rtlCol="0" anchor="t">
            <a:spAutoFit/>
          </a:bodyPr>
          <a:lstStyle/>
          <a:p>
            <a:pPr marL="0" lvl="0" indent="0" algn="ctr">
              <a:lnSpc>
                <a:spcPts val="9949"/>
              </a:lnSpc>
            </a:pPr>
            <a:r>
              <a:rPr lang="en-US" sz="8651">
                <a:solidFill>
                  <a:srgbClr val="FFFFFF"/>
                </a:solidFill>
                <a:latin typeface="League Gothic"/>
                <a:ea typeface="League Gothic"/>
                <a:cs typeface="League Gothic"/>
                <a:sym typeface="League Gothic"/>
              </a:rPr>
              <a:t>THE “LIMITATIONS”</a:t>
            </a:r>
          </a:p>
        </p:txBody>
      </p:sp>
      <p:sp>
        <p:nvSpPr>
          <p:cNvPr id="29" name="TextBox 29"/>
          <p:cNvSpPr txBox="1"/>
          <p:nvPr/>
        </p:nvSpPr>
        <p:spPr>
          <a:xfrm>
            <a:off x="10428692" y="7108864"/>
            <a:ext cx="6830608" cy="308610"/>
          </a:xfrm>
          <a:prstGeom prst="rect">
            <a:avLst/>
          </a:prstGeom>
        </p:spPr>
        <p:txBody>
          <a:bodyPr lIns="0" tIns="0" rIns="0" bIns="0" rtlCol="0" anchor="t">
            <a:spAutoFit/>
          </a:bodyPr>
          <a:lstStyle/>
          <a:p>
            <a:pPr algn="ctr">
              <a:lnSpc>
                <a:spcPts val="2415"/>
              </a:lnSpc>
              <a:spcBef>
                <a:spcPct val="0"/>
              </a:spcBef>
            </a:pPr>
            <a:r>
              <a:rPr lang="en-US" sz="2100">
                <a:solidFill>
                  <a:srgbClr val="FFFFFF"/>
                </a:solidFill>
                <a:latin typeface="Muli"/>
                <a:ea typeface="Muli"/>
                <a:cs typeface="Muli"/>
                <a:sym typeface="Muli"/>
              </a:rPr>
              <a:t>DATA REFINEMENT NEEDED</a:t>
            </a:r>
          </a:p>
        </p:txBody>
      </p:sp>
      <p:sp>
        <p:nvSpPr>
          <p:cNvPr id="30" name="AutoShape 30"/>
          <p:cNvSpPr/>
          <p:nvPr/>
        </p:nvSpPr>
        <p:spPr>
          <a:xfrm>
            <a:off x="9289660" y="3487350"/>
            <a:ext cx="822171" cy="24888"/>
          </a:xfrm>
          <a:prstGeom prst="line">
            <a:avLst/>
          </a:prstGeom>
          <a:ln w="38100" cap="flat">
            <a:solidFill>
              <a:srgbClr val="FFFFFF"/>
            </a:solidFill>
            <a:prstDash val="sysDot"/>
            <a:headEnd type="none" w="sm" len="sm"/>
            <a:tailEnd type="arrow" w="med" len="sm"/>
          </a:ln>
        </p:spPr>
      </p:sp>
      <p:sp>
        <p:nvSpPr>
          <p:cNvPr id="31" name="AutoShape 31"/>
          <p:cNvSpPr/>
          <p:nvPr/>
        </p:nvSpPr>
        <p:spPr>
          <a:xfrm>
            <a:off x="9290236" y="4636515"/>
            <a:ext cx="822171" cy="24888"/>
          </a:xfrm>
          <a:prstGeom prst="line">
            <a:avLst/>
          </a:prstGeom>
          <a:ln w="38100" cap="flat">
            <a:solidFill>
              <a:srgbClr val="FFFFFF"/>
            </a:solidFill>
            <a:prstDash val="sysDot"/>
            <a:headEnd type="none" w="sm" len="sm"/>
            <a:tailEnd type="arrow" w="med" len="sm"/>
          </a:ln>
        </p:spPr>
      </p:sp>
      <p:sp>
        <p:nvSpPr>
          <p:cNvPr id="32" name="AutoShape 32"/>
          <p:cNvSpPr/>
          <p:nvPr/>
        </p:nvSpPr>
        <p:spPr>
          <a:xfrm>
            <a:off x="9302554" y="6070578"/>
            <a:ext cx="822171" cy="24888"/>
          </a:xfrm>
          <a:prstGeom prst="line">
            <a:avLst/>
          </a:prstGeom>
          <a:ln w="38100" cap="flat">
            <a:solidFill>
              <a:srgbClr val="FFFFFF"/>
            </a:solidFill>
            <a:prstDash val="sysDot"/>
            <a:headEnd type="none" w="sm" len="sm"/>
            <a:tailEnd type="arrow" w="med" len="sm"/>
          </a:ln>
        </p:spPr>
      </p:sp>
      <p:sp>
        <p:nvSpPr>
          <p:cNvPr id="33" name="AutoShape 33"/>
          <p:cNvSpPr/>
          <p:nvPr/>
        </p:nvSpPr>
        <p:spPr>
          <a:xfrm>
            <a:off x="9273657" y="7527642"/>
            <a:ext cx="822171" cy="24888"/>
          </a:xfrm>
          <a:prstGeom prst="line">
            <a:avLst/>
          </a:prstGeom>
          <a:ln w="38100" cap="flat">
            <a:solidFill>
              <a:srgbClr val="FFFFFF"/>
            </a:solidFill>
            <a:prstDash val="sysDot"/>
            <a:headEnd type="none" w="sm" len="sm"/>
            <a:tailEnd type="arrow" w="med" len="sm"/>
          </a:ln>
        </p:spPr>
      </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2006903" y="3977788"/>
            <a:ext cx="2624131" cy="262413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5" name="TextBox 5"/>
            <p:cNvSpPr txBox="1"/>
            <p:nvPr/>
          </p:nvSpPr>
          <p:spPr>
            <a:xfrm>
              <a:off x="76200" y="-28575"/>
              <a:ext cx="660400" cy="765175"/>
            </a:xfrm>
            <a:prstGeom prst="rect">
              <a:avLst/>
            </a:prstGeom>
          </p:spPr>
          <p:txBody>
            <a:bodyPr lIns="50800" tIns="50800" rIns="50800" bIns="50800" rtlCol="0" anchor="ctr"/>
            <a:lstStyle/>
            <a:p>
              <a:pPr marL="0" lvl="0" indent="0" algn="ctr">
                <a:lnSpc>
                  <a:spcPts val="6959"/>
                </a:lnSpc>
              </a:pPr>
              <a:r>
                <a:rPr lang="en-US" sz="4800" b="1">
                  <a:solidFill>
                    <a:srgbClr val="000000"/>
                  </a:solidFill>
                  <a:latin typeface="Muli Bold"/>
                  <a:ea typeface="Muli Bold"/>
                  <a:cs typeface="Muli Bold"/>
                  <a:sym typeface="Muli Bold"/>
                </a:rPr>
                <a:t>1.28M</a:t>
              </a:r>
            </a:p>
          </p:txBody>
        </p:sp>
      </p:grpSp>
      <p:grpSp>
        <p:nvGrpSpPr>
          <p:cNvPr id="6" name="Group 6"/>
          <p:cNvGrpSpPr/>
          <p:nvPr/>
        </p:nvGrpSpPr>
        <p:grpSpPr>
          <a:xfrm>
            <a:off x="13503287" y="3977788"/>
            <a:ext cx="2624131" cy="262413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8" name="TextBox 8"/>
            <p:cNvSpPr txBox="1"/>
            <p:nvPr/>
          </p:nvSpPr>
          <p:spPr>
            <a:xfrm>
              <a:off x="76200" y="-28575"/>
              <a:ext cx="660400" cy="765175"/>
            </a:xfrm>
            <a:prstGeom prst="rect">
              <a:avLst/>
            </a:prstGeom>
          </p:spPr>
          <p:txBody>
            <a:bodyPr lIns="50800" tIns="50800" rIns="50800" bIns="50800" rtlCol="0" anchor="ctr"/>
            <a:lstStyle/>
            <a:p>
              <a:pPr marL="0" lvl="0" indent="0" algn="ctr">
                <a:lnSpc>
                  <a:spcPts val="6959"/>
                </a:lnSpc>
              </a:pPr>
              <a:r>
                <a:rPr lang="en-US" sz="4800" b="1" dirty="0" smtClean="0">
                  <a:solidFill>
                    <a:srgbClr val="000000"/>
                  </a:solidFill>
                  <a:latin typeface="Muli Bold"/>
                  <a:ea typeface="Muli Bold"/>
                  <a:cs typeface="Muli Bold"/>
                  <a:sym typeface="Muli Bold"/>
                </a:rPr>
                <a:t>73K</a:t>
              </a:r>
              <a:endParaRPr lang="en-US" sz="4800" b="1" dirty="0">
                <a:solidFill>
                  <a:srgbClr val="000000"/>
                </a:solidFill>
                <a:latin typeface="Muli Bold"/>
                <a:ea typeface="Muli Bold"/>
                <a:cs typeface="Muli Bold"/>
                <a:sym typeface="Muli Bold"/>
              </a:endParaRPr>
            </a:p>
          </p:txBody>
        </p:sp>
      </p:grpSp>
      <p:grpSp>
        <p:nvGrpSpPr>
          <p:cNvPr id="9" name="Group 9"/>
          <p:cNvGrpSpPr/>
          <p:nvPr/>
        </p:nvGrpSpPr>
        <p:grpSpPr>
          <a:xfrm>
            <a:off x="5839031" y="3977788"/>
            <a:ext cx="2624131" cy="262413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11" name="TextBox 11"/>
            <p:cNvSpPr txBox="1"/>
            <p:nvPr/>
          </p:nvSpPr>
          <p:spPr>
            <a:xfrm>
              <a:off x="76200" y="-28575"/>
              <a:ext cx="660400" cy="765175"/>
            </a:xfrm>
            <a:prstGeom prst="rect">
              <a:avLst/>
            </a:prstGeom>
          </p:spPr>
          <p:txBody>
            <a:bodyPr lIns="50800" tIns="50800" rIns="50800" bIns="50800" rtlCol="0" anchor="ctr"/>
            <a:lstStyle/>
            <a:p>
              <a:pPr marL="0" lvl="0" indent="0" algn="ctr">
                <a:lnSpc>
                  <a:spcPts val="6959"/>
                </a:lnSpc>
              </a:pPr>
              <a:r>
                <a:rPr lang="en-US" sz="4800" b="1">
                  <a:solidFill>
                    <a:srgbClr val="000000"/>
                  </a:solidFill>
                  <a:latin typeface="Muli Bold"/>
                  <a:ea typeface="Muli Bold"/>
                  <a:cs typeface="Muli Bold"/>
                  <a:sym typeface="Muli Bold"/>
                </a:rPr>
                <a:t>1.15M</a:t>
              </a:r>
            </a:p>
          </p:txBody>
        </p:sp>
      </p:grpSp>
      <p:grpSp>
        <p:nvGrpSpPr>
          <p:cNvPr id="12" name="Group 12"/>
          <p:cNvGrpSpPr/>
          <p:nvPr/>
        </p:nvGrpSpPr>
        <p:grpSpPr>
          <a:xfrm>
            <a:off x="9889014" y="3977788"/>
            <a:ext cx="2624131" cy="262413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14" name="TextBox 14"/>
            <p:cNvSpPr txBox="1"/>
            <p:nvPr/>
          </p:nvSpPr>
          <p:spPr>
            <a:xfrm>
              <a:off x="76200" y="-28575"/>
              <a:ext cx="660400" cy="765175"/>
            </a:xfrm>
            <a:prstGeom prst="rect">
              <a:avLst/>
            </a:prstGeom>
          </p:spPr>
          <p:txBody>
            <a:bodyPr lIns="50800" tIns="50800" rIns="50800" bIns="50800" rtlCol="0" anchor="ctr"/>
            <a:lstStyle/>
            <a:p>
              <a:pPr marL="0" lvl="0" indent="0" algn="ctr">
                <a:lnSpc>
                  <a:spcPts val="6959"/>
                </a:lnSpc>
              </a:pPr>
              <a:r>
                <a:rPr lang="en-US" sz="4800" b="1">
                  <a:solidFill>
                    <a:srgbClr val="000000"/>
                  </a:solidFill>
                  <a:latin typeface="Muli Bold"/>
                  <a:ea typeface="Muli Bold"/>
                  <a:cs typeface="Muli Bold"/>
                  <a:sym typeface="Muli Bold"/>
                </a:rPr>
                <a:t>16 Yrs</a:t>
              </a:r>
            </a:p>
          </p:txBody>
        </p:sp>
      </p:grpSp>
      <p:sp>
        <p:nvSpPr>
          <p:cNvPr id="15" name="TextBox 15"/>
          <p:cNvSpPr txBox="1"/>
          <p:nvPr/>
        </p:nvSpPr>
        <p:spPr>
          <a:xfrm>
            <a:off x="9613966" y="1738230"/>
            <a:ext cx="6715709" cy="971695"/>
          </a:xfrm>
          <a:prstGeom prst="rect">
            <a:avLst/>
          </a:prstGeom>
        </p:spPr>
        <p:txBody>
          <a:bodyPr lIns="0" tIns="0" rIns="0" bIns="0" rtlCol="0" anchor="t">
            <a:spAutoFit/>
          </a:bodyPr>
          <a:lstStyle/>
          <a:p>
            <a:pPr marL="0" lvl="0" indent="0" algn="r">
              <a:lnSpc>
                <a:spcPts val="3908"/>
              </a:lnSpc>
            </a:pPr>
            <a:r>
              <a:rPr lang="en-US" sz="2695" spc="404">
                <a:solidFill>
                  <a:srgbClr val="F4D314"/>
                </a:solidFill>
                <a:latin typeface="Muli"/>
                <a:ea typeface="Muli"/>
                <a:cs typeface="Muli"/>
                <a:sym typeface="Muli"/>
              </a:rPr>
              <a:t>NYC SCHOOL BUS DATA ANALYSIS</a:t>
            </a:r>
          </a:p>
        </p:txBody>
      </p:sp>
      <p:sp>
        <p:nvSpPr>
          <p:cNvPr id="16" name="TextBox 16"/>
          <p:cNvSpPr txBox="1"/>
          <p:nvPr/>
        </p:nvSpPr>
        <p:spPr>
          <a:xfrm>
            <a:off x="1958325" y="1663149"/>
            <a:ext cx="5985375" cy="1217106"/>
          </a:xfrm>
          <a:prstGeom prst="rect">
            <a:avLst/>
          </a:prstGeom>
        </p:spPr>
        <p:txBody>
          <a:bodyPr lIns="0" tIns="0" rIns="0" bIns="0" rtlCol="0" anchor="t">
            <a:spAutoFit/>
          </a:bodyPr>
          <a:lstStyle/>
          <a:p>
            <a:pPr marL="0" lvl="0" indent="0" algn="l">
              <a:lnSpc>
                <a:spcPts val="9407"/>
              </a:lnSpc>
            </a:pPr>
            <a:r>
              <a:rPr lang="en-US" sz="8180">
                <a:solidFill>
                  <a:srgbClr val="FFFFFF"/>
                </a:solidFill>
                <a:latin typeface="League Gothic"/>
                <a:ea typeface="League Gothic"/>
                <a:cs typeface="League Gothic"/>
                <a:sym typeface="League Gothic"/>
              </a:rPr>
              <a:t>DATASET OVERVIEW</a:t>
            </a:r>
          </a:p>
        </p:txBody>
      </p:sp>
      <p:sp>
        <p:nvSpPr>
          <p:cNvPr id="17" name="TextBox 17"/>
          <p:cNvSpPr txBox="1"/>
          <p:nvPr/>
        </p:nvSpPr>
        <p:spPr>
          <a:xfrm>
            <a:off x="1981217" y="7154696"/>
            <a:ext cx="2675503" cy="318860"/>
          </a:xfrm>
          <a:prstGeom prst="rect">
            <a:avLst/>
          </a:prstGeom>
        </p:spPr>
        <p:txBody>
          <a:bodyPr lIns="0" tIns="0" rIns="0" bIns="0" rtlCol="0" anchor="t">
            <a:spAutoFit/>
          </a:bodyPr>
          <a:lstStyle/>
          <a:p>
            <a:pPr marL="0" lvl="0" indent="0" algn="ctr">
              <a:lnSpc>
                <a:spcPts val="2546"/>
              </a:lnSpc>
            </a:pPr>
            <a:r>
              <a:rPr lang="en-US" sz="2214">
                <a:solidFill>
                  <a:srgbClr val="F4D314"/>
                </a:solidFill>
                <a:latin typeface="Muli"/>
                <a:ea typeface="Muli"/>
                <a:cs typeface="Muli"/>
                <a:sym typeface="Muli"/>
              </a:rPr>
              <a:t>TOTAL RECORDS</a:t>
            </a:r>
          </a:p>
        </p:txBody>
      </p:sp>
      <p:sp>
        <p:nvSpPr>
          <p:cNvPr id="18" name="TextBox 18"/>
          <p:cNvSpPr txBox="1"/>
          <p:nvPr/>
        </p:nvSpPr>
        <p:spPr>
          <a:xfrm>
            <a:off x="13654172" y="6997533"/>
            <a:ext cx="2675503" cy="633185"/>
          </a:xfrm>
          <a:prstGeom prst="rect">
            <a:avLst/>
          </a:prstGeom>
        </p:spPr>
        <p:txBody>
          <a:bodyPr lIns="0" tIns="0" rIns="0" bIns="0" rtlCol="0" anchor="t">
            <a:spAutoFit/>
          </a:bodyPr>
          <a:lstStyle/>
          <a:p>
            <a:pPr marL="0" lvl="0" indent="0" algn="ctr">
              <a:lnSpc>
                <a:spcPts val="2546"/>
              </a:lnSpc>
            </a:pPr>
            <a:r>
              <a:rPr lang="en-US" sz="2214">
                <a:solidFill>
                  <a:srgbClr val="F4D314"/>
                </a:solidFill>
                <a:latin typeface="Muli"/>
                <a:ea typeface="Muli"/>
                <a:cs typeface="Muli"/>
                <a:sym typeface="Muli"/>
              </a:rPr>
              <a:t>2025-26 INCIDENTS</a:t>
            </a:r>
          </a:p>
        </p:txBody>
      </p:sp>
      <p:sp>
        <p:nvSpPr>
          <p:cNvPr id="19" name="TextBox 19"/>
          <p:cNvSpPr txBox="1"/>
          <p:nvPr/>
        </p:nvSpPr>
        <p:spPr>
          <a:xfrm>
            <a:off x="5632698" y="7154696"/>
            <a:ext cx="3036798" cy="318860"/>
          </a:xfrm>
          <a:prstGeom prst="rect">
            <a:avLst/>
          </a:prstGeom>
        </p:spPr>
        <p:txBody>
          <a:bodyPr lIns="0" tIns="0" rIns="0" bIns="0" rtlCol="0" anchor="t">
            <a:spAutoFit/>
          </a:bodyPr>
          <a:lstStyle/>
          <a:p>
            <a:pPr marL="0" lvl="0" indent="0" algn="ctr">
              <a:lnSpc>
                <a:spcPts val="2546"/>
              </a:lnSpc>
            </a:pPr>
            <a:r>
              <a:rPr lang="en-US" sz="2214">
                <a:solidFill>
                  <a:srgbClr val="F4D314"/>
                </a:solidFill>
                <a:latin typeface="Muli"/>
                <a:ea typeface="Muli"/>
                <a:cs typeface="Muli"/>
                <a:sym typeface="Muli"/>
              </a:rPr>
              <a:t>VALID RECORDS</a:t>
            </a:r>
          </a:p>
        </p:txBody>
      </p:sp>
      <p:sp>
        <p:nvSpPr>
          <p:cNvPr id="20" name="TextBox 20"/>
          <p:cNvSpPr txBox="1"/>
          <p:nvPr/>
        </p:nvSpPr>
        <p:spPr>
          <a:xfrm>
            <a:off x="9682681" y="7154696"/>
            <a:ext cx="3036798" cy="318860"/>
          </a:xfrm>
          <a:prstGeom prst="rect">
            <a:avLst/>
          </a:prstGeom>
        </p:spPr>
        <p:txBody>
          <a:bodyPr lIns="0" tIns="0" rIns="0" bIns="0" rtlCol="0" anchor="t">
            <a:spAutoFit/>
          </a:bodyPr>
          <a:lstStyle/>
          <a:p>
            <a:pPr marL="0" lvl="0" indent="0" algn="ctr">
              <a:lnSpc>
                <a:spcPts val="2546"/>
              </a:lnSpc>
            </a:pPr>
            <a:r>
              <a:rPr lang="en-US" sz="2214">
                <a:solidFill>
                  <a:srgbClr val="F4D314"/>
                </a:solidFill>
                <a:latin typeface="Muli"/>
                <a:ea typeface="Muli"/>
                <a:cs typeface="Muli"/>
                <a:sym typeface="Muli"/>
              </a:rPr>
              <a:t>DATE RANGE</a:t>
            </a:r>
          </a:p>
        </p:txBody>
      </p:sp>
      <p:sp>
        <p:nvSpPr>
          <p:cNvPr id="21" name="TextBox 21"/>
          <p:cNvSpPr txBox="1"/>
          <p:nvPr/>
        </p:nvSpPr>
        <p:spPr>
          <a:xfrm>
            <a:off x="5801899" y="7660864"/>
            <a:ext cx="2698394" cy="788841"/>
          </a:xfrm>
          <a:prstGeom prst="rect">
            <a:avLst/>
          </a:prstGeom>
        </p:spPr>
        <p:txBody>
          <a:bodyPr lIns="0" tIns="0" rIns="0" bIns="0" rtlCol="0" anchor="t">
            <a:spAutoFit/>
          </a:bodyPr>
          <a:lstStyle/>
          <a:p>
            <a:pPr marL="0" lvl="0" indent="0" algn="ctr">
              <a:lnSpc>
                <a:spcPts val="2127"/>
              </a:lnSpc>
            </a:pPr>
            <a:r>
              <a:rPr lang="en-US" sz="1636">
                <a:solidFill>
                  <a:srgbClr val="FFFFFF"/>
                </a:solidFill>
                <a:latin typeface="Muli"/>
                <a:ea typeface="Muli"/>
                <a:cs typeface="Muli"/>
                <a:sym typeface="Muli"/>
              </a:rPr>
              <a:t>After data cleaning, 1,151,383 records remain for analysis.</a:t>
            </a:r>
          </a:p>
        </p:txBody>
      </p:sp>
      <p:sp>
        <p:nvSpPr>
          <p:cNvPr id="22" name="TextBox 22"/>
          <p:cNvSpPr txBox="1"/>
          <p:nvPr/>
        </p:nvSpPr>
        <p:spPr>
          <a:xfrm>
            <a:off x="1958325" y="7660864"/>
            <a:ext cx="2698394" cy="522141"/>
          </a:xfrm>
          <a:prstGeom prst="rect">
            <a:avLst/>
          </a:prstGeom>
        </p:spPr>
        <p:txBody>
          <a:bodyPr lIns="0" tIns="0" rIns="0" bIns="0" rtlCol="0" anchor="t">
            <a:spAutoFit/>
          </a:bodyPr>
          <a:lstStyle/>
          <a:p>
            <a:pPr marL="0" lvl="0" indent="0" algn="ctr">
              <a:lnSpc>
                <a:spcPts val="2127"/>
              </a:lnSpc>
            </a:pPr>
            <a:r>
              <a:rPr lang="en-US" sz="1636">
                <a:solidFill>
                  <a:srgbClr val="FFFFFF"/>
                </a:solidFill>
                <a:latin typeface="Muli"/>
                <a:ea typeface="Muli"/>
                <a:cs typeface="Muli"/>
                <a:sym typeface="Muli"/>
              </a:rPr>
              <a:t>Initial dataset contains 1,277,681 incident records.</a:t>
            </a:r>
          </a:p>
        </p:txBody>
      </p:sp>
      <p:sp>
        <p:nvSpPr>
          <p:cNvPr id="23" name="TextBox 23"/>
          <p:cNvSpPr txBox="1"/>
          <p:nvPr/>
        </p:nvSpPr>
        <p:spPr>
          <a:xfrm>
            <a:off x="13631280" y="7794214"/>
            <a:ext cx="2698394" cy="522141"/>
          </a:xfrm>
          <a:prstGeom prst="rect">
            <a:avLst/>
          </a:prstGeom>
        </p:spPr>
        <p:txBody>
          <a:bodyPr lIns="0" tIns="0" rIns="0" bIns="0" rtlCol="0" anchor="t">
            <a:spAutoFit/>
          </a:bodyPr>
          <a:lstStyle/>
          <a:p>
            <a:pPr marL="0" lvl="0" indent="0" algn="ctr">
              <a:lnSpc>
                <a:spcPts val="2127"/>
              </a:lnSpc>
            </a:pPr>
            <a:r>
              <a:rPr lang="en-US" sz="1636" dirty="0">
                <a:solidFill>
                  <a:srgbClr val="FFFFFF"/>
                </a:solidFill>
                <a:latin typeface="Muli"/>
                <a:ea typeface="Muli"/>
                <a:cs typeface="Muli"/>
                <a:sym typeface="Muli"/>
              </a:rPr>
              <a:t>Current school year shows </a:t>
            </a:r>
            <a:r>
              <a:rPr lang="en-US" sz="1636" dirty="0" smtClean="0">
                <a:solidFill>
                  <a:srgbClr val="FFFFFF"/>
                </a:solidFill>
                <a:latin typeface="Muli"/>
                <a:ea typeface="Muli"/>
                <a:cs typeface="Muli"/>
                <a:sym typeface="Muli"/>
              </a:rPr>
              <a:t>73,239 recorded </a:t>
            </a:r>
            <a:r>
              <a:rPr lang="en-US" sz="1636" dirty="0">
                <a:solidFill>
                  <a:srgbClr val="FFFFFF"/>
                </a:solidFill>
                <a:latin typeface="Muli"/>
                <a:ea typeface="Muli"/>
                <a:cs typeface="Muli"/>
                <a:sym typeface="Muli"/>
              </a:rPr>
              <a:t>incidents.</a:t>
            </a:r>
          </a:p>
        </p:txBody>
      </p:sp>
      <p:sp>
        <p:nvSpPr>
          <p:cNvPr id="24" name="TextBox 24"/>
          <p:cNvSpPr txBox="1"/>
          <p:nvPr/>
        </p:nvSpPr>
        <p:spPr>
          <a:xfrm>
            <a:off x="9851882" y="7660864"/>
            <a:ext cx="2698394" cy="522141"/>
          </a:xfrm>
          <a:prstGeom prst="rect">
            <a:avLst/>
          </a:prstGeom>
        </p:spPr>
        <p:txBody>
          <a:bodyPr lIns="0" tIns="0" rIns="0" bIns="0" rtlCol="0" anchor="t">
            <a:spAutoFit/>
          </a:bodyPr>
          <a:lstStyle/>
          <a:p>
            <a:pPr marL="0" lvl="0" indent="0" algn="ctr">
              <a:lnSpc>
                <a:spcPts val="2127"/>
              </a:lnSpc>
            </a:pPr>
            <a:r>
              <a:rPr lang="en-US" sz="1636">
                <a:solidFill>
                  <a:srgbClr val="FFFFFF"/>
                </a:solidFill>
                <a:latin typeface="Muli"/>
                <a:ea typeface="Muli"/>
                <a:cs typeface="Muli"/>
                <a:sym typeface="Muli"/>
              </a:rPr>
              <a:t>Data spans from 2010 to 2026 school years.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3416" b="-83416"/>
            </a:stretch>
          </a:blipFill>
        </p:spPr>
      </p:sp>
      <p:pic>
        <p:nvPicPr>
          <p:cNvPr id="3" name="Picture 3"/>
          <p:cNvPicPr>
            <a:picLocks noChangeAspect="1"/>
          </p:cNvPicPr>
          <p:nvPr/>
        </p:nvPicPr>
        <p:blipFill>
          <a:blip r:embed="rId3"/>
          <a:stretch>
            <a:fillRect/>
          </a:stretch>
        </p:blipFill>
        <p:spPr>
          <a:xfrm>
            <a:off x="9647706" y="3290818"/>
            <a:ext cx="8427433" cy="6326159"/>
          </a:xfrm>
          <a:prstGeom prst="rect">
            <a:avLst/>
          </a:prstGeom>
        </p:spPr>
      </p:pic>
      <p:sp>
        <p:nvSpPr>
          <p:cNvPr id="4" name="TextBox 4"/>
          <p:cNvSpPr txBox="1"/>
          <p:nvPr/>
        </p:nvSpPr>
        <p:spPr>
          <a:xfrm>
            <a:off x="9613966" y="1720809"/>
            <a:ext cx="6715709" cy="1006537"/>
          </a:xfrm>
          <a:prstGeom prst="rect">
            <a:avLst/>
          </a:prstGeom>
        </p:spPr>
        <p:txBody>
          <a:bodyPr lIns="0" tIns="0" rIns="0" bIns="0" rtlCol="0" anchor="t">
            <a:spAutoFit/>
          </a:bodyPr>
          <a:lstStyle/>
          <a:p>
            <a:pPr marL="0" lvl="0" indent="0" algn="r">
              <a:lnSpc>
                <a:spcPts val="4057"/>
              </a:lnSpc>
            </a:pPr>
            <a:r>
              <a:rPr lang="en-US" sz="2798" spc="419">
                <a:solidFill>
                  <a:srgbClr val="F4D314"/>
                </a:solidFill>
                <a:latin typeface="Muli"/>
                <a:ea typeface="Muli"/>
                <a:cs typeface="Muli"/>
                <a:sym typeface="Muli"/>
              </a:rPr>
              <a:t>NYC SCHOOL BUS DATA ANALYSIS</a:t>
            </a:r>
          </a:p>
        </p:txBody>
      </p:sp>
      <p:sp>
        <p:nvSpPr>
          <p:cNvPr id="5" name="TextBox 5"/>
          <p:cNvSpPr txBox="1"/>
          <p:nvPr/>
        </p:nvSpPr>
        <p:spPr>
          <a:xfrm>
            <a:off x="1958325" y="1847390"/>
            <a:ext cx="5985375" cy="839100"/>
          </a:xfrm>
          <a:prstGeom prst="rect">
            <a:avLst/>
          </a:prstGeom>
        </p:spPr>
        <p:txBody>
          <a:bodyPr lIns="0" tIns="0" rIns="0" bIns="0" rtlCol="0" anchor="t">
            <a:spAutoFit/>
          </a:bodyPr>
          <a:lstStyle/>
          <a:p>
            <a:pPr marL="0" lvl="0" indent="0" algn="l">
              <a:lnSpc>
                <a:spcPts val="6499"/>
              </a:lnSpc>
            </a:pPr>
            <a:r>
              <a:rPr lang="en-US" sz="5652">
                <a:solidFill>
                  <a:srgbClr val="FFFFFF"/>
                </a:solidFill>
                <a:latin typeface="League Gothic"/>
                <a:ea typeface="League Gothic"/>
                <a:cs typeface="League Gothic"/>
                <a:sym typeface="League Gothic"/>
              </a:rPr>
              <a:t>DELAY INCIDENTS BY BOROUGH</a:t>
            </a:r>
          </a:p>
        </p:txBody>
      </p:sp>
      <p:grpSp>
        <p:nvGrpSpPr>
          <p:cNvPr id="6" name="Group 6"/>
          <p:cNvGrpSpPr/>
          <p:nvPr/>
        </p:nvGrpSpPr>
        <p:grpSpPr>
          <a:xfrm>
            <a:off x="1958325" y="3626504"/>
            <a:ext cx="2069123" cy="206912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8" name="TextBox 8"/>
            <p:cNvSpPr txBox="1"/>
            <p:nvPr/>
          </p:nvSpPr>
          <p:spPr>
            <a:xfrm>
              <a:off x="76200" y="-19050"/>
              <a:ext cx="660400" cy="755650"/>
            </a:xfrm>
            <a:prstGeom prst="rect">
              <a:avLst/>
            </a:prstGeom>
          </p:spPr>
          <p:txBody>
            <a:bodyPr lIns="50800" tIns="50800" rIns="50800" bIns="50800" rtlCol="0" anchor="ctr"/>
            <a:lstStyle/>
            <a:p>
              <a:pPr marL="0" lvl="0" indent="0" algn="ctr">
                <a:lnSpc>
                  <a:spcPts val="6090"/>
                </a:lnSpc>
              </a:pPr>
              <a:r>
                <a:rPr lang="en-US" sz="4200" b="1">
                  <a:solidFill>
                    <a:srgbClr val="000000"/>
                  </a:solidFill>
                  <a:latin typeface="Muli Bold"/>
                  <a:ea typeface="Muli Bold"/>
                  <a:cs typeface="Muli Bold"/>
                  <a:sym typeface="Muli Bold"/>
                </a:rPr>
                <a:t>278K</a:t>
              </a:r>
            </a:p>
          </p:txBody>
        </p:sp>
      </p:grpSp>
      <p:sp>
        <p:nvSpPr>
          <p:cNvPr id="9" name="TextBox 9"/>
          <p:cNvSpPr txBox="1"/>
          <p:nvPr/>
        </p:nvSpPr>
        <p:spPr>
          <a:xfrm>
            <a:off x="4414717" y="3904396"/>
            <a:ext cx="4164850" cy="308601"/>
          </a:xfrm>
          <a:prstGeom prst="rect">
            <a:avLst/>
          </a:prstGeom>
        </p:spPr>
        <p:txBody>
          <a:bodyPr lIns="0" tIns="0" rIns="0" bIns="0" rtlCol="0" anchor="t">
            <a:spAutoFit/>
          </a:bodyPr>
          <a:lstStyle/>
          <a:p>
            <a:pPr marL="0" lvl="0" indent="0" algn="l">
              <a:lnSpc>
                <a:spcPts val="2413"/>
              </a:lnSpc>
            </a:pPr>
            <a:r>
              <a:rPr lang="en-US" sz="2098">
                <a:solidFill>
                  <a:srgbClr val="F4D314"/>
                </a:solidFill>
                <a:latin typeface="Muli"/>
                <a:ea typeface="Muli"/>
                <a:cs typeface="Muli"/>
                <a:sym typeface="Muli"/>
              </a:rPr>
              <a:t>BROOKLYN INCIDENTS</a:t>
            </a:r>
          </a:p>
        </p:txBody>
      </p:sp>
      <p:sp>
        <p:nvSpPr>
          <p:cNvPr id="10" name="TextBox 10"/>
          <p:cNvSpPr txBox="1"/>
          <p:nvPr/>
        </p:nvSpPr>
        <p:spPr>
          <a:xfrm>
            <a:off x="4414717" y="4501434"/>
            <a:ext cx="3571733" cy="611537"/>
          </a:xfrm>
          <a:prstGeom prst="rect">
            <a:avLst/>
          </a:prstGeom>
        </p:spPr>
        <p:txBody>
          <a:bodyPr lIns="0" tIns="0" rIns="0" bIns="0" rtlCol="0" anchor="t">
            <a:spAutoFit/>
          </a:bodyPr>
          <a:lstStyle/>
          <a:p>
            <a:pPr marL="0" lvl="0" indent="0" algn="l">
              <a:lnSpc>
                <a:spcPts val="2518"/>
              </a:lnSpc>
            </a:pPr>
            <a:r>
              <a:rPr lang="en-US" sz="1798">
                <a:solidFill>
                  <a:srgbClr val="FFFFFF"/>
                </a:solidFill>
                <a:latin typeface="Muli"/>
                <a:ea typeface="Muli"/>
                <a:cs typeface="Muli"/>
                <a:sym typeface="Muli"/>
              </a:rPr>
              <a:t>Highest in NYC with 278,179 total delay incidents recorded.</a:t>
            </a:r>
          </a:p>
        </p:txBody>
      </p:sp>
      <p:grpSp>
        <p:nvGrpSpPr>
          <p:cNvPr id="11" name="Group 11"/>
          <p:cNvGrpSpPr/>
          <p:nvPr/>
        </p:nvGrpSpPr>
        <p:grpSpPr>
          <a:xfrm>
            <a:off x="1958325" y="6572141"/>
            <a:ext cx="2069123" cy="206912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13" name="TextBox 13"/>
            <p:cNvSpPr txBox="1"/>
            <p:nvPr/>
          </p:nvSpPr>
          <p:spPr>
            <a:xfrm>
              <a:off x="76200" y="-19050"/>
              <a:ext cx="660400" cy="755650"/>
            </a:xfrm>
            <a:prstGeom prst="rect">
              <a:avLst/>
            </a:prstGeom>
          </p:spPr>
          <p:txBody>
            <a:bodyPr lIns="50800" tIns="50800" rIns="50800" bIns="50800" rtlCol="0" anchor="ctr"/>
            <a:lstStyle/>
            <a:p>
              <a:pPr marL="0" lvl="0" indent="0" algn="ctr">
                <a:lnSpc>
                  <a:spcPts val="6090"/>
                </a:lnSpc>
              </a:pPr>
              <a:r>
                <a:rPr lang="en-US" sz="4200" b="1">
                  <a:solidFill>
                    <a:srgbClr val="000000"/>
                  </a:solidFill>
                  <a:latin typeface="Muli Bold"/>
                  <a:ea typeface="Muli Bold"/>
                  <a:cs typeface="Muli Bold"/>
                  <a:sym typeface="Muli Bold"/>
                </a:rPr>
                <a:t>273K</a:t>
              </a:r>
            </a:p>
          </p:txBody>
        </p:sp>
      </p:grpSp>
      <p:sp>
        <p:nvSpPr>
          <p:cNvPr id="14" name="TextBox 14"/>
          <p:cNvSpPr txBox="1"/>
          <p:nvPr/>
        </p:nvSpPr>
        <p:spPr>
          <a:xfrm>
            <a:off x="4414717" y="6850034"/>
            <a:ext cx="4164850" cy="308601"/>
          </a:xfrm>
          <a:prstGeom prst="rect">
            <a:avLst/>
          </a:prstGeom>
        </p:spPr>
        <p:txBody>
          <a:bodyPr lIns="0" tIns="0" rIns="0" bIns="0" rtlCol="0" anchor="t">
            <a:spAutoFit/>
          </a:bodyPr>
          <a:lstStyle/>
          <a:p>
            <a:pPr marL="0" lvl="0" indent="0" algn="l">
              <a:lnSpc>
                <a:spcPts val="2413"/>
              </a:lnSpc>
            </a:pPr>
            <a:r>
              <a:rPr lang="en-US" sz="2098">
                <a:solidFill>
                  <a:srgbClr val="F4D314"/>
                </a:solidFill>
                <a:latin typeface="Muli"/>
                <a:ea typeface="Muli"/>
                <a:cs typeface="Muli"/>
                <a:sym typeface="Muli"/>
              </a:rPr>
              <a:t>BRONX INCIDENTS</a:t>
            </a:r>
          </a:p>
        </p:txBody>
      </p:sp>
      <p:sp>
        <p:nvSpPr>
          <p:cNvPr id="15" name="TextBox 15"/>
          <p:cNvSpPr txBox="1"/>
          <p:nvPr/>
        </p:nvSpPr>
        <p:spPr>
          <a:xfrm>
            <a:off x="4414717" y="7447071"/>
            <a:ext cx="3571733" cy="611537"/>
          </a:xfrm>
          <a:prstGeom prst="rect">
            <a:avLst/>
          </a:prstGeom>
        </p:spPr>
        <p:txBody>
          <a:bodyPr lIns="0" tIns="0" rIns="0" bIns="0" rtlCol="0" anchor="t">
            <a:spAutoFit/>
          </a:bodyPr>
          <a:lstStyle/>
          <a:p>
            <a:pPr marL="0" lvl="0" indent="0" algn="l">
              <a:lnSpc>
                <a:spcPts val="2518"/>
              </a:lnSpc>
            </a:pPr>
            <a:r>
              <a:rPr lang="en-US" sz="1798">
                <a:solidFill>
                  <a:srgbClr val="FFFFFF"/>
                </a:solidFill>
                <a:latin typeface="Muli"/>
                <a:ea typeface="Muli"/>
                <a:cs typeface="Muli"/>
                <a:sym typeface="Muli"/>
              </a:rPr>
              <a:t>Second highest with 272,884 incidents across the borough.</a:t>
            </a:r>
          </a:p>
        </p:txBody>
      </p:sp>
      <p:sp>
        <p:nvSpPr>
          <p:cNvPr id="16" name="TextBox 16"/>
          <p:cNvSpPr txBox="1"/>
          <p:nvPr/>
        </p:nvSpPr>
        <p:spPr>
          <a:xfrm>
            <a:off x="16224900" y="4352455"/>
            <a:ext cx="1585065" cy="308610"/>
          </a:xfrm>
          <a:prstGeom prst="rect">
            <a:avLst/>
          </a:prstGeom>
        </p:spPr>
        <p:txBody>
          <a:bodyPr lIns="0" tIns="0" rIns="0" bIns="0" rtlCol="0" anchor="t">
            <a:spAutoFit/>
          </a:bodyPr>
          <a:lstStyle/>
          <a:p>
            <a:pPr algn="ctr">
              <a:lnSpc>
                <a:spcPts val="2415"/>
              </a:lnSpc>
              <a:spcBef>
                <a:spcPct val="0"/>
              </a:spcBef>
            </a:pPr>
            <a:r>
              <a:rPr lang="en-US" sz="2100">
                <a:solidFill>
                  <a:srgbClr val="FFFFFF"/>
                </a:solidFill>
                <a:latin typeface="Muli"/>
                <a:ea typeface="Muli"/>
                <a:cs typeface="Muli"/>
                <a:sym typeface="Muli"/>
              </a:rPr>
              <a:t>278K</a:t>
            </a:r>
          </a:p>
        </p:txBody>
      </p:sp>
      <p:sp>
        <p:nvSpPr>
          <p:cNvPr id="17" name="TextBox 17"/>
          <p:cNvSpPr txBox="1"/>
          <p:nvPr/>
        </p:nvSpPr>
        <p:spPr>
          <a:xfrm>
            <a:off x="16081674" y="5153025"/>
            <a:ext cx="1585065" cy="308610"/>
          </a:xfrm>
          <a:prstGeom prst="rect">
            <a:avLst/>
          </a:prstGeom>
        </p:spPr>
        <p:txBody>
          <a:bodyPr lIns="0" tIns="0" rIns="0" bIns="0" rtlCol="0" anchor="t">
            <a:spAutoFit/>
          </a:bodyPr>
          <a:lstStyle/>
          <a:p>
            <a:pPr algn="ctr">
              <a:lnSpc>
                <a:spcPts val="2415"/>
              </a:lnSpc>
              <a:spcBef>
                <a:spcPct val="0"/>
              </a:spcBef>
            </a:pPr>
            <a:r>
              <a:rPr lang="en-US" sz="2100">
                <a:solidFill>
                  <a:srgbClr val="FFFFFF"/>
                </a:solidFill>
                <a:latin typeface="Muli"/>
                <a:ea typeface="Muli"/>
                <a:cs typeface="Muli"/>
                <a:sym typeface="Muli"/>
              </a:rPr>
              <a:t>273K</a:t>
            </a:r>
          </a:p>
        </p:txBody>
      </p:sp>
      <p:sp>
        <p:nvSpPr>
          <p:cNvPr id="18" name="TextBox 18"/>
          <p:cNvSpPr txBox="1"/>
          <p:nvPr/>
        </p:nvSpPr>
        <p:spPr>
          <a:xfrm>
            <a:off x="15394267" y="6145287"/>
            <a:ext cx="1585065" cy="308610"/>
          </a:xfrm>
          <a:prstGeom prst="rect">
            <a:avLst/>
          </a:prstGeom>
        </p:spPr>
        <p:txBody>
          <a:bodyPr lIns="0" tIns="0" rIns="0" bIns="0" rtlCol="0" anchor="t">
            <a:spAutoFit/>
          </a:bodyPr>
          <a:lstStyle/>
          <a:p>
            <a:pPr algn="ctr">
              <a:lnSpc>
                <a:spcPts val="2415"/>
              </a:lnSpc>
              <a:spcBef>
                <a:spcPct val="0"/>
              </a:spcBef>
            </a:pPr>
            <a:r>
              <a:rPr lang="en-US" sz="2100">
                <a:solidFill>
                  <a:srgbClr val="FFFFFF"/>
                </a:solidFill>
                <a:latin typeface="Muli"/>
                <a:ea typeface="Muli"/>
                <a:cs typeface="Muli"/>
                <a:sym typeface="Muli"/>
              </a:rPr>
              <a:t>233K</a:t>
            </a:r>
          </a:p>
        </p:txBody>
      </p:sp>
      <p:sp>
        <p:nvSpPr>
          <p:cNvPr id="19" name="TextBox 19"/>
          <p:cNvSpPr txBox="1"/>
          <p:nvPr/>
        </p:nvSpPr>
        <p:spPr>
          <a:xfrm>
            <a:off x="14910648" y="7139697"/>
            <a:ext cx="1585065" cy="308610"/>
          </a:xfrm>
          <a:prstGeom prst="rect">
            <a:avLst/>
          </a:prstGeom>
        </p:spPr>
        <p:txBody>
          <a:bodyPr lIns="0" tIns="0" rIns="0" bIns="0" rtlCol="0" anchor="t">
            <a:spAutoFit/>
          </a:bodyPr>
          <a:lstStyle/>
          <a:p>
            <a:pPr algn="ctr">
              <a:lnSpc>
                <a:spcPts val="2415"/>
              </a:lnSpc>
              <a:spcBef>
                <a:spcPct val="0"/>
              </a:spcBef>
            </a:pPr>
            <a:r>
              <a:rPr lang="en-US" sz="2100">
                <a:solidFill>
                  <a:srgbClr val="FFFFFF"/>
                </a:solidFill>
                <a:latin typeface="Muli"/>
                <a:ea typeface="Muli"/>
                <a:cs typeface="Muli"/>
                <a:sym typeface="Muli"/>
              </a:rPr>
              <a:t>206K</a:t>
            </a:r>
          </a:p>
        </p:txBody>
      </p:sp>
      <p:sp>
        <p:nvSpPr>
          <p:cNvPr id="20" name="TextBox 20"/>
          <p:cNvSpPr txBox="1"/>
          <p:nvPr/>
        </p:nvSpPr>
        <p:spPr>
          <a:xfrm>
            <a:off x="12122138" y="8068133"/>
            <a:ext cx="1585065" cy="308610"/>
          </a:xfrm>
          <a:prstGeom prst="rect">
            <a:avLst/>
          </a:prstGeom>
        </p:spPr>
        <p:txBody>
          <a:bodyPr lIns="0" tIns="0" rIns="0" bIns="0" rtlCol="0" anchor="t">
            <a:spAutoFit/>
          </a:bodyPr>
          <a:lstStyle/>
          <a:p>
            <a:pPr algn="ctr">
              <a:lnSpc>
                <a:spcPts val="2415"/>
              </a:lnSpc>
              <a:spcBef>
                <a:spcPct val="0"/>
              </a:spcBef>
            </a:pPr>
            <a:r>
              <a:rPr lang="en-US" sz="2100">
                <a:solidFill>
                  <a:srgbClr val="FFFFFF"/>
                </a:solidFill>
                <a:latin typeface="Muli"/>
                <a:ea typeface="Muli"/>
                <a:cs typeface="Muli"/>
                <a:sym typeface="Muli"/>
              </a:rPr>
              <a:t>60K</a:t>
            </a:r>
          </a:p>
        </p:txBody>
      </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pic>
        <p:nvPicPr>
          <p:cNvPr id="3" name="Picture 3"/>
          <p:cNvPicPr>
            <a:picLocks noChangeAspect="1"/>
          </p:cNvPicPr>
          <p:nvPr/>
        </p:nvPicPr>
        <p:blipFill>
          <a:blip r:embed="rId3"/>
          <a:stretch>
            <a:fillRect/>
          </a:stretch>
        </p:blipFill>
        <p:spPr>
          <a:xfrm>
            <a:off x="376610" y="3157320"/>
            <a:ext cx="8850565" cy="6592699"/>
          </a:xfrm>
          <a:prstGeom prst="rect">
            <a:avLst/>
          </a:prstGeom>
        </p:spPr>
      </p:pic>
      <p:sp>
        <p:nvSpPr>
          <p:cNvPr id="4" name="TextBox 4"/>
          <p:cNvSpPr txBox="1"/>
          <p:nvPr/>
        </p:nvSpPr>
        <p:spPr>
          <a:xfrm>
            <a:off x="9613966" y="1978015"/>
            <a:ext cx="6715709" cy="492125"/>
          </a:xfrm>
          <a:prstGeom prst="rect">
            <a:avLst/>
          </a:prstGeom>
        </p:spPr>
        <p:txBody>
          <a:bodyPr lIns="0" tIns="0" rIns="0" bIns="0" rtlCol="0" anchor="t">
            <a:spAutoFit/>
          </a:bodyPr>
          <a:lstStyle/>
          <a:p>
            <a:pPr marL="0" lvl="0" indent="0" algn="r">
              <a:lnSpc>
                <a:spcPts val="4059"/>
              </a:lnSpc>
            </a:pPr>
            <a:r>
              <a:rPr lang="en-US" sz="2799" spc="419">
                <a:solidFill>
                  <a:srgbClr val="F4D314"/>
                </a:solidFill>
                <a:latin typeface="Muli"/>
                <a:ea typeface="Muli"/>
                <a:cs typeface="Muli"/>
                <a:sym typeface="Muli"/>
              </a:rPr>
              <a:t>BROOKLYN DEEP DIVE</a:t>
            </a:r>
          </a:p>
        </p:txBody>
      </p:sp>
      <p:sp>
        <p:nvSpPr>
          <p:cNvPr id="5" name="TextBox 5"/>
          <p:cNvSpPr txBox="1"/>
          <p:nvPr/>
        </p:nvSpPr>
        <p:spPr>
          <a:xfrm>
            <a:off x="1958325" y="1663131"/>
            <a:ext cx="5985375" cy="1217143"/>
          </a:xfrm>
          <a:prstGeom prst="rect">
            <a:avLst/>
          </a:prstGeom>
        </p:spPr>
        <p:txBody>
          <a:bodyPr lIns="0" tIns="0" rIns="0" bIns="0" rtlCol="0" anchor="t">
            <a:spAutoFit/>
          </a:bodyPr>
          <a:lstStyle/>
          <a:p>
            <a:pPr marL="0" lvl="0" indent="0" algn="l">
              <a:lnSpc>
                <a:spcPts val="9413"/>
              </a:lnSpc>
            </a:pPr>
            <a:r>
              <a:rPr lang="en-US" sz="8185">
                <a:solidFill>
                  <a:srgbClr val="FFFFFF"/>
                </a:solidFill>
                <a:latin typeface="League Gothic"/>
                <a:ea typeface="League Gothic"/>
                <a:cs typeface="League Gothic"/>
                <a:sym typeface="League Gothic"/>
              </a:rPr>
              <a:t>TOP BUS COMPANY</a:t>
            </a:r>
          </a:p>
        </p:txBody>
      </p:sp>
      <p:grpSp>
        <p:nvGrpSpPr>
          <p:cNvPr id="6" name="Group 6"/>
          <p:cNvGrpSpPr/>
          <p:nvPr/>
        </p:nvGrpSpPr>
        <p:grpSpPr>
          <a:xfrm>
            <a:off x="10029062" y="3626504"/>
            <a:ext cx="2069123" cy="206912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8" name="TextBox 8"/>
            <p:cNvSpPr txBox="1"/>
            <p:nvPr/>
          </p:nvSpPr>
          <p:spPr>
            <a:xfrm>
              <a:off x="76200" y="-19050"/>
              <a:ext cx="660400" cy="755650"/>
            </a:xfrm>
            <a:prstGeom prst="rect">
              <a:avLst/>
            </a:prstGeom>
          </p:spPr>
          <p:txBody>
            <a:bodyPr lIns="50800" tIns="50800" rIns="50800" bIns="50800" rtlCol="0" anchor="ctr"/>
            <a:lstStyle/>
            <a:p>
              <a:pPr marL="0" lvl="0" indent="0" algn="ctr">
                <a:lnSpc>
                  <a:spcPts val="6090"/>
                </a:lnSpc>
              </a:pPr>
              <a:r>
                <a:rPr lang="en-US" sz="4200" b="1">
                  <a:solidFill>
                    <a:srgbClr val="000000"/>
                  </a:solidFill>
                  <a:latin typeface="Muli Bold"/>
                  <a:ea typeface="Muli Bold"/>
                  <a:cs typeface="Muli Bold"/>
                  <a:sym typeface="Muli Bold"/>
                </a:rPr>
                <a:t>28.7k</a:t>
              </a:r>
            </a:p>
          </p:txBody>
        </p:sp>
      </p:grpSp>
      <p:sp>
        <p:nvSpPr>
          <p:cNvPr id="9" name="TextBox 9"/>
          <p:cNvSpPr txBox="1"/>
          <p:nvPr/>
        </p:nvSpPr>
        <p:spPr>
          <a:xfrm>
            <a:off x="12485453" y="3904392"/>
            <a:ext cx="4164850" cy="308610"/>
          </a:xfrm>
          <a:prstGeom prst="rect">
            <a:avLst/>
          </a:prstGeom>
        </p:spPr>
        <p:txBody>
          <a:bodyPr lIns="0" tIns="0" rIns="0" bIns="0" rtlCol="0" anchor="t">
            <a:spAutoFit/>
          </a:bodyPr>
          <a:lstStyle/>
          <a:p>
            <a:pPr marL="0" lvl="0" indent="0" algn="l">
              <a:lnSpc>
                <a:spcPts val="2415"/>
              </a:lnSpc>
            </a:pPr>
            <a:r>
              <a:rPr lang="en-US" sz="2100">
                <a:solidFill>
                  <a:srgbClr val="F4D314"/>
                </a:solidFill>
                <a:latin typeface="Muli"/>
                <a:ea typeface="Muli"/>
                <a:cs typeface="Muli"/>
                <a:sym typeface="Muli"/>
              </a:rPr>
              <a:t>INCIDENTS RECORDED</a:t>
            </a:r>
          </a:p>
        </p:txBody>
      </p:sp>
      <p:sp>
        <p:nvSpPr>
          <p:cNvPr id="10" name="TextBox 10"/>
          <p:cNvSpPr txBox="1"/>
          <p:nvPr/>
        </p:nvSpPr>
        <p:spPr>
          <a:xfrm>
            <a:off x="10125726" y="6857677"/>
            <a:ext cx="4719455" cy="308610"/>
          </a:xfrm>
          <a:prstGeom prst="rect">
            <a:avLst/>
          </a:prstGeom>
        </p:spPr>
        <p:txBody>
          <a:bodyPr lIns="0" tIns="0" rIns="0" bIns="0" rtlCol="0" anchor="t">
            <a:spAutoFit/>
          </a:bodyPr>
          <a:lstStyle/>
          <a:p>
            <a:pPr marL="0" lvl="0" indent="0" algn="l">
              <a:lnSpc>
                <a:spcPts val="2415"/>
              </a:lnSpc>
            </a:pPr>
            <a:r>
              <a:rPr lang="en-US" sz="2100">
                <a:solidFill>
                  <a:srgbClr val="F4D314"/>
                </a:solidFill>
                <a:latin typeface="Muli"/>
                <a:ea typeface="Muli"/>
                <a:cs typeface="Muli"/>
                <a:sym typeface="Muli"/>
              </a:rPr>
              <a:t>BORO TRANSIT, INC.</a:t>
            </a:r>
          </a:p>
        </p:txBody>
      </p:sp>
      <p:sp>
        <p:nvSpPr>
          <p:cNvPr id="11" name="TextBox 11"/>
          <p:cNvSpPr txBox="1"/>
          <p:nvPr/>
        </p:nvSpPr>
        <p:spPr>
          <a:xfrm>
            <a:off x="12485453" y="4501434"/>
            <a:ext cx="3571733" cy="925830"/>
          </a:xfrm>
          <a:prstGeom prst="rect">
            <a:avLst/>
          </a:prstGeom>
        </p:spPr>
        <p:txBody>
          <a:bodyPr lIns="0" tIns="0" rIns="0" bIns="0" rtlCol="0" anchor="t">
            <a:spAutoFit/>
          </a:bodyPr>
          <a:lstStyle/>
          <a:p>
            <a:pPr marL="0" lvl="0" indent="0" algn="l">
              <a:lnSpc>
                <a:spcPts val="2520"/>
              </a:lnSpc>
            </a:pPr>
            <a:r>
              <a:rPr lang="en-US" sz="1800">
                <a:solidFill>
                  <a:srgbClr val="FFFFFF"/>
                </a:solidFill>
                <a:latin typeface="Muli"/>
                <a:ea typeface="Muli"/>
                <a:cs typeface="Muli"/>
                <a:sym typeface="Muli"/>
              </a:rPr>
              <a:t>The leading bus company responsible for the most delays in Brooklyn.</a:t>
            </a:r>
          </a:p>
        </p:txBody>
      </p:sp>
      <p:sp>
        <p:nvSpPr>
          <p:cNvPr id="12" name="TextBox 12"/>
          <p:cNvSpPr txBox="1"/>
          <p:nvPr/>
        </p:nvSpPr>
        <p:spPr>
          <a:xfrm>
            <a:off x="10115450" y="7182825"/>
            <a:ext cx="6214224" cy="1554480"/>
          </a:xfrm>
          <a:prstGeom prst="rect">
            <a:avLst/>
          </a:prstGeom>
        </p:spPr>
        <p:txBody>
          <a:bodyPr lIns="0" tIns="0" rIns="0" bIns="0" rtlCol="0" anchor="t">
            <a:spAutoFit/>
          </a:bodyPr>
          <a:lstStyle/>
          <a:p>
            <a:pPr marL="0" lvl="0" indent="0" algn="l">
              <a:lnSpc>
                <a:spcPts val="2520"/>
              </a:lnSpc>
            </a:pPr>
            <a:r>
              <a:rPr lang="en-US" sz="1800">
                <a:solidFill>
                  <a:srgbClr val="FFFFFF"/>
                </a:solidFill>
                <a:latin typeface="Muli"/>
                <a:ea typeface="Muli"/>
                <a:cs typeface="Muli"/>
                <a:sym typeface="Muli"/>
              </a:rPr>
              <a:t>BORO TRANSIT, INC. accounts for 28,750 delay incidents in Brooklyn, representing the largest share of all bus delays in the borough. This significant volume highlights the need for targeted operational improvements and collaboration with this key transit provider.</a:t>
            </a:r>
          </a:p>
        </p:txBody>
      </p:sp>
      <p:sp>
        <p:nvSpPr>
          <p:cNvPr id="13" name="TextBox 13"/>
          <p:cNvSpPr txBox="1"/>
          <p:nvPr/>
        </p:nvSpPr>
        <p:spPr>
          <a:xfrm>
            <a:off x="7225560" y="5153025"/>
            <a:ext cx="1585065" cy="308610"/>
          </a:xfrm>
          <a:prstGeom prst="rect">
            <a:avLst/>
          </a:prstGeom>
        </p:spPr>
        <p:txBody>
          <a:bodyPr lIns="0" tIns="0" rIns="0" bIns="0" rtlCol="0" anchor="t">
            <a:spAutoFit/>
          </a:bodyPr>
          <a:lstStyle/>
          <a:p>
            <a:pPr algn="ctr">
              <a:lnSpc>
                <a:spcPts val="2415"/>
              </a:lnSpc>
              <a:spcBef>
                <a:spcPct val="0"/>
              </a:spcBef>
            </a:pPr>
            <a:r>
              <a:rPr lang="en-US" sz="2100">
                <a:solidFill>
                  <a:srgbClr val="FFFFFF"/>
                </a:solidFill>
                <a:latin typeface="Muli"/>
                <a:ea typeface="Muli"/>
                <a:cs typeface="Muli"/>
                <a:sym typeface="Muli"/>
              </a:rPr>
              <a:t>25.8K</a:t>
            </a:r>
          </a:p>
        </p:txBody>
      </p:sp>
      <p:sp>
        <p:nvSpPr>
          <p:cNvPr id="14" name="TextBox 14"/>
          <p:cNvSpPr txBox="1"/>
          <p:nvPr/>
        </p:nvSpPr>
        <p:spPr>
          <a:xfrm>
            <a:off x="6856938" y="6126009"/>
            <a:ext cx="1585065" cy="308610"/>
          </a:xfrm>
          <a:prstGeom prst="rect">
            <a:avLst/>
          </a:prstGeom>
        </p:spPr>
        <p:txBody>
          <a:bodyPr lIns="0" tIns="0" rIns="0" bIns="0" rtlCol="0" anchor="t">
            <a:spAutoFit/>
          </a:bodyPr>
          <a:lstStyle/>
          <a:p>
            <a:pPr algn="ctr">
              <a:lnSpc>
                <a:spcPts val="2415"/>
              </a:lnSpc>
              <a:spcBef>
                <a:spcPct val="0"/>
              </a:spcBef>
            </a:pPr>
            <a:r>
              <a:rPr lang="en-US" sz="2100">
                <a:solidFill>
                  <a:srgbClr val="FFFFFF"/>
                </a:solidFill>
                <a:latin typeface="Muli"/>
                <a:ea typeface="Muli"/>
                <a:cs typeface="Muli"/>
                <a:sym typeface="Muli"/>
              </a:rPr>
              <a:t>23.5K</a:t>
            </a:r>
          </a:p>
        </p:txBody>
      </p:sp>
      <p:sp>
        <p:nvSpPr>
          <p:cNvPr id="15" name="TextBox 15"/>
          <p:cNvSpPr txBox="1"/>
          <p:nvPr/>
        </p:nvSpPr>
        <p:spPr>
          <a:xfrm>
            <a:off x="5926245" y="7168044"/>
            <a:ext cx="1585065" cy="308610"/>
          </a:xfrm>
          <a:prstGeom prst="rect">
            <a:avLst/>
          </a:prstGeom>
        </p:spPr>
        <p:txBody>
          <a:bodyPr lIns="0" tIns="0" rIns="0" bIns="0" rtlCol="0" anchor="t">
            <a:spAutoFit/>
          </a:bodyPr>
          <a:lstStyle/>
          <a:p>
            <a:pPr algn="ctr">
              <a:lnSpc>
                <a:spcPts val="2415"/>
              </a:lnSpc>
              <a:spcBef>
                <a:spcPct val="0"/>
              </a:spcBef>
            </a:pPr>
            <a:r>
              <a:rPr lang="en-US" sz="2100">
                <a:solidFill>
                  <a:srgbClr val="FFFFFF"/>
                </a:solidFill>
                <a:latin typeface="Muli"/>
                <a:ea typeface="Muli"/>
                <a:cs typeface="Muli"/>
                <a:sym typeface="Muli"/>
              </a:rPr>
              <a:t>17.7K</a:t>
            </a:r>
          </a:p>
        </p:txBody>
      </p:sp>
      <p:sp>
        <p:nvSpPr>
          <p:cNvPr id="16" name="TextBox 16"/>
          <p:cNvSpPr txBox="1"/>
          <p:nvPr/>
        </p:nvSpPr>
        <p:spPr>
          <a:xfrm>
            <a:off x="5888145" y="8210079"/>
            <a:ext cx="1585065" cy="308610"/>
          </a:xfrm>
          <a:prstGeom prst="rect">
            <a:avLst/>
          </a:prstGeom>
        </p:spPr>
        <p:txBody>
          <a:bodyPr lIns="0" tIns="0" rIns="0" bIns="0" rtlCol="0" anchor="t">
            <a:spAutoFit/>
          </a:bodyPr>
          <a:lstStyle/>
          <a:p>
            <a:pPr algn="ctr">
              <a:lnSpc>
                <a:spcPts val="2415"/>
              </a:lnSpc>
              <a:spcBef>
                <a:spcPct val="0"/>
              </a:spcBef>
            </a:pPr>
            <a:r>
              <a:rPr lang="en-US" sz="2100">
                <a:solidFill>
                  <a:srgbClr val="FFFFFF"/>
                </a:solidFill>
                <a:latin typeface="Muli"/>
                <a:ea typeface="Muli"/>
                <a:cs typeface="Muli"/>
                <a:sym typeface="Muli"/>
              </a:rPr>
              <a:t>16.9K</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2006903" y="3977788"/>
            <a:ext cx="2870143" cy="262413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5" name="TextBox 5"/>
            <p:cNvSpPr txBox="1"/>
            <p:nvPr/>
          </p:nvSpPr>
          <p:spPr>
            <a:xfrm>
              <a:off x="76200" y="-19050"/>
              <a:ext cx="660400" cy="755650"/>
            </a:xfrm>
            <a:prstGeom prst="rect">
              <a:avLst/>
            </a:prstGeom>
          </p:spPr>
          <p:txBody>
            <a:bodyPr lIns="50800" tIns="50800" rIns="50800" bIns="50800" rtlCol="0" anchor="ctr"/>
            <a:lstStyle/>
            <a:p>
              <a:pPr marL="0" lvl="0" indent="0" algn="ctr">
                <a:lnSpc>
                  <a:spcPts val="6090"/>
                </a:lnSpc>
              </a:pPr>
              <a:r>
                <a:rPr lang="en-US" sz="4200" b="1">
                  <a:solidFill>
                    <a:srgbClr val="000000"/>
                  </a:solidFill>
                  <a:latin typeface="Muli Bold"/>
                  <a:ea typeface="Muli Bold"/>
                  <a:cs typeface="Muli Bold"/>
                  <a:sym typeface="Muli Bold"/>
                </a:rPr>
                <a:t>133,641</a:t>
              </a:r>
            </a:p>
          </p:txBody>
        </p:sp>
      </p:grpSp>
      <p:grpSp>
        <p:nvGrpSpPr>
          <p:cNvPr id="6" name="Group 6"/>
          <p:cNvGrpSpPr/>
          <p:nvPr/>
        </p:nvGrpSpPr>
        <p:grpSpPr>
          <a:xfrm>
            <a:off x="9671159" y="3977788"/>
            <a:ext cx="2624131" cy="262413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8" name="TextBox 8"/>
            <p:cNvSpPr txBox="1"/>
            <p:nvPr/>
          </p:nvSpPr>
          <p:spPr>
            <a:xfrm>
              <a:off x="76200" y="-19050"/>
              <a:ext cx="660400" cy="755650"/>
            </a:xfrm>
            <a:prstGeom prst="rect">
              <a:avLst/>
            </a:prstGeom>
          </p:spPr>
          <p:txBody>
            <a:bodyPr lIns="50800" tIns="50800" rIns="50800" bIns="50800" rtlCol="0" anchor="ctr"/>
            <a:lstStyle/>
            <a:p>
              <a:pPr marL="0" lvl="0" indent="0" algn="ctr">
                <a:lnSpc>
                  <a:spcPts val="6090"/>
                </a:lnSpc>
              </a:pPr>
              <a:r>
                <a:rPr lang="en-US" sz="4200" b="1">
                  <a:solidFill>
                    <a:srgbClr val="000000"/>
                  </a:solidFill>
                  <a:latin typeface="Muli Bold"/>
                  <a:ea typeface="Muli Bold"/>
                  <a:cs typeface="Muli Bold"/>
                  <a:sym typeface="Muli Bold"/>
                </a:rPr>
                <a:t>30K+</a:t>
              </a:r>
            </a:p>
          </p:txBody>
        </p:sp>
      </p:grpSp>
      <p:grpSp>
        <p:nvGrpSpPr>
          <p:cNvPr id="9" name="Group 9"/>
          <p:cNvGrpSpPr/>
          <p:nvPr/>
        </p:nvGrpSpPr>
        <p:grpSpPr>
          <a:xfrm>
            <a:off x="5839031" y="3977788"/>
            <a:ext cx="2624131" cy="262413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11" name="TextBox 11"/>
            <p:cNvSpPr txBox="1"/>
            <p:nvPr/>
          </p:nvSpPr>
          <p:spPr>
            <a:xfrm>
              <a:off x="76200" y="-19050"/>
              <a:ext cx="660400" cy="755650"/>
            </a:xfrm>
            <a:prstGeom prst="rect">
              <a:avLst/>
            </a:prstGeom>
          </p:spPr>
          <p:txBody>
            <a:bodyPr lIns="50800" tIns="50800" rIns="50800" bIns="50800" rtlCol="0" anchor="ctr"/>
            <a:lstStyle/>
            <a:p>
              <a:pPr marL="0" lvl="0" indent="0" algn="ctr">
                <a:lnSpc>
                  <a:spcPts val="6090"/>
                </a:lnSpc>
              </a:pPr>
              <a:r>
                <a:rPr lang="en-US" sz="4200" b="1">
                  <a:solidFill>
                    <a:srgbClr val="000000"/>
                  </a:solidFill>
                  <a:latin typeface="Muli Bold"/>
                  <a:ea typeface="Muli Bold"/>
                  <a:cs typeface="Muli Bold"/>
                  <a:sym typeface="Muli Bold"/>
                </a:rPr>
                <a:t>65K+</a:t>
              </a:r>
            </a:p>
          </p:txBody>
        </p:sp>
      </p:grpSp>
      <p:grpSp>
        <p:nvGrpSpPr>
          <p:cNvPr id="12" name="Group 12"/>
          <p:cNvGrpSpPr/>
          <p:nvPr/>
        </p:nvGrpSpPr>
        <p:grpSpPr>
          <a:xfrm>
            <a:off x="13503287" y="3977788"/>
            <a:ext cx="2624131" cy="262413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14" name="TextBox 14"/>
            <p:cNvSpPr txBox="1"/>
            <p:nvPr/>
          </p:nvSpPr>
          <p:spPr>
            <a:xfrm>
              <a:off x="76200" y="-19050"/>
              <a:ext cx="660400" cy="755650"/>
            </a:xfrm>
            <a:prstGeom prst="rect">
              <a:avLst/>
            </a:prstGeom>
          </p:spPr>
          <p:txBody>
            <a:bodyPr lIns="50800" tIns="50800" rIns="50800" bIns="50800" rtlCol="0" anchor="ctr"/>
            <a:lstStyle/>
            <a:p>
              <a:pPr marL="0" lvl="0" indent="0" algn="ctr">
                <a:lnSpc>
                  <a:spcPts val="6090"/>
                </a:lnSpc>
              </a:pPr>
              <a:r>
                <a:rPr lang="en-US" sz="4200" b="1">
                  <a:solidFill>
                    <a:srgbClr val="000000"/>
                  </a:solidFill>
                  <a:latin typeface="Muli Bold"/>
                  <a:ea typeface="Muli Bold"/>
                  <a:cs typeface="Muli Bold"/>
                  <a:sym typeface="Muli Bold"/>
                </a:rPr>
                <a:t>10K+</a:t>
              </a:r>
            </a:p>
          </p:txBody>
        </p:sp>
      </p:grpSp>
      <p:sp>
        <p:nvSpPr>
          <p:cNvPr id="15" name="TextBox 15"/>
          <p:cNvSpPr txBox="1"/>
          <p:nvPr/>
        </p:nvSpPr>
        <p:spPr>
          <a:xfrm>
            <a:off x="9613966" y="1746999"/>
            <a:ext cx="6715709" cy="954157"/>
          </a:xfrm>
          <a:prstGeom prst="rect">
            <a:avLst/>
          </a:prstGeom>
        </p:spPr>
        <p:txBody>
          <a:bodyPr lIns="0" tIns="0" rIns="0" bIns="0" rtlCol="0" anchor="t">
            <a:spAutoFit/>
          </a:bodyPr>
          <a:lstStyle/>
          <a:p>
            <a:pPr marL="0" lvl="0" indent="0" algn="r">
              <a:lnSpc>
                <a:spcPts val="3839"/>
              </a:lnSpc>
            </a:pPr>
            <a:r>
              <a:rPr lang="en-US" sz="2647" spc="397">
                <a:solidFill>
                  <a:srgbClr val="F4D314"/>
                </a:solidFill>
                <a:latin typeface="Muli"/>
                <a:ea typeface="Muli"/>
                <a:cs typeface="Muli"/>
                <a:sym typeface="Muli"/>
              </a:rPr>
              <a:t>NYC SCHOOL BUS DATA ANALYSIS</a:t>
            </a:r>
          </a:p>
        </p:txBody>
      </p:sp>
      <p:sp>
        <p:nvSpPr>
          <p:cNvPr id="16" name="TextBox 16"/>
          <p:cNvSpPr txBox="1"/>
          <p:nvPr/>
        </p:nvSpPr>
        <p:spPr>
          <a:xfrm>
            <a:off x="1958325" y="1097083"/>
            <a:ext cx="5985375" cy="2358764"/>
          </a:xfrm>
          <a:prstGeom prst="rect">
            <a:avLst/>
          </a:prstGeom>
        </p:spPr>
        <p:txBody>
          <a:bodyPr lIns="0" tIns="0" rIns="0" bIns="0" rtlCol="0" anchor="t">
            <a:spAutoFit/>
          </a:bodyPr>
          <a:lstStyle/>
          <a:p>
            <a:pPr marL="0" lvl="0" indent="0" algn="l">
              <a:lnSpc>
                <a:spcPts val="9259"/>
              </a:lnSpc>
            </a:pPr>
            <a:r>
              <a:rPr lang="en-US" sz="8051">
                <a:solidFill>
                  <a:srgbClr val="FFFFFF"/>
                </a:solidFill>
                <a:latin typeface="League Gothic"/>
                <a:ea typeface="League Gothic"/>
                <a:cs typeface="League Gothic"/>
                <a:sym typeface="League Gothic"/>
              </a:rPr>
              <a:t>TOP REASONS FOR DELAYS IN BROOKLYN</a:t>
            </a:r>
          </a:p>
        </p:txBody>
      </p:sp>
      <p:sp>
        <p:nvSpPr>
          <p:cNvPr id="17" name="TextBox 17"/>
          <p:cNvSpPr txBox="1"/>
          <p:nvPr/>
        </p:nvSpPr>
        <p:spPr>
          <a:xfrm>
            <a:off x="1981217" y="7145295"/>
            <a:ext cx="2675503" cy="328136"/>
          </a:xfrm>
          <a:prstGeom prst="rect">
            <a:avLst/>
          </a:prstGeom>
        </p:spPr>
        <p:txBody>
          <a:bodyPr lIns="0" tIns="0" rIns="0" bIns="0" rtlCol="0" anchor="t">
            <a:spAutoFit/>
          </a:bodyPr>
          <a:lstStyle/>
          <a:p>
            <a:pPr marL="0" lvl="0" indent="0" algn="ctr">
              <a:lnSpc>
                <a:spcPts val="2501"/>
              </a:lnSpc>
            </a:pPr>
            <a:r>
              <a:rPr lang="en-US" sz="2175">
                <a:solidFill>
                  <a:srgbClr val="F4D314"/>
                </a:solidFill>
                <a:latin typeface="Muli"/>
                <a:ea typeface="Muli"/>
                <a:cs typeface="Muli"/>
                <a:sym typeface="Muli"/>
              </a:rPr>
              <a:t>HEAVY TRAFFIC</a:t>
            </a:r>
          </a:p>
        </p:txBody>
      </p:sp>
      <p:sp>
        <p:nvSpPr>
          <p:cNvPr id="18" name="TextBox 18"/>
          <p:cNvSpPr txBox="1"/>
          <p:nvPr/>
        </p:nvSpPr>
        <p:spPr>
          <a:xfrm>
            <a:off x="9641396" y="7145295"/>
            <a:ext cx="2675503" cy="328136"/>
          </a:xfrm>
          <a:prstGeom prst="rect">
            <a:avLst/>
          </a:prstGeom>
        </p:spPr>
        <p:txBody>
          <a:bodyPr lIns="0" tIns="0" rIns="0" bIns="0" rtlCol="0" anchor="t">
            <a:spAutoFit/>
          </a:bodyPr>
          <a:lstStyle/>
          <a:p>
            <a:pPr marL="0" lvl="0" indent="0" algn="ctr">
              <a:lnSpc>
                <a:spcPts val="2501"/>
              </a:lnSpc>
            </a:pPr>
            <a:r>
              <a:rPr lang="en-US" sz="2175">
                <a:solidFill>
                  <a:srgbClr val="F4D314"/>
                </a:solidFill>
                <a:latin typeface="Muli"/>
                <a:ea typeface="Muli"/>
                <a:cs typeface="Muli"/>
                <a:sym typeface="Muli"/>
              </a:rPr>
              <a:t>MECHANICAL</a:t>
            </a:r>
          </a:p>
        </p:txBody>
      </p:sp>
      <p:sp>
        <p:nvSpPr>
          <p:cNvPr id="19" name="TextBox 19"/>
          <p:cNvSpPr txBox="1"/>
          <p:nvPr/>
        </p:nvSpPr>
        <p:spPr>
          <a:xfrm>
            <a:off x="5632698" y="7145295"/>
            <a:ext cx="3036798" cy="328136"/>
          </a:xfrm>
          <a:prstGeom prst="rect">
            <a:avLst/>
          </a:prstGeom>
        </p:spPr>
        <p:txBody>
          <a:bodyPr lIns="0" tIns="0" rIns="0" bIns="0" rtlCol="0" anchor="t">
            <a:spAutoFit/>
          </a:bodyPr>
          <a:lstStyle/>
          <a:p>
            <a:pPr marL="0" lvl="0" indent="0" algn="ctr">
              <a:lnSpc>
                <a:spcPts val="2501"/>
              </a:lnSpc>
            </a:pPr>
            <a:r>
              <a:rPr lang="en-US" sz="2175">
                <a:solidFill>
                  <a:srgbClr val="F4D314"/>
                </a:solidFill>
                <a:latin typeface="Muli"/>
                <a:ea typeface="Muli"/>
                <a:cs typeface="Muli"/>
                <a:sym typeface="Muli"/>
              </a:rPr>
              <a:t>OTHER REASONS</a:t>
            </a:r>
          </a:p>
        </p:txBody>
      </p:sp>
      <p:sp>
        <p:nvSpPr>
          <p:cNvPr id="20" name="TextBox 20"/>
          <p:cNvSpPr txBox="1"/>
          <p:nvPr/>
        </p:nvSpPr>
        <p:spPr>
          <a:xfrm>
            <a:off x="13292876" y="7145295"/>
            <a:ext cx="3318723" cy="320601"/>
          </a:xfrm>
          <a:prstGeom prst="rect">
            <a:avLst/>
          </a:prstGeom>
        </p:spPr>
        <p:txBody>
          <a:bodyPr wrap="square" lIns="0" tIns="0" rIns="0" bIns="0" rtlCol="0" anchor="t">
            <a:spAutoFit/>
          </a:bodyPr>
          <a:lstStyle/>
          <a:p>
            <a:pPr marL="0" lvl="0" indent="0" algn="ctr">
              <a:lnSpc>
                <a:spcPts val="2501"/>
              </a:lnSpc>
            </a:pPr>
            <a:r>
              <a:rPr lang="en-US" sz="2175" dirty="0">
                <a:solidFill>
                  <a:srgbClr val="F4D314"/>
                </a:solidFill>
                <a:latin typeface="Muli"/>
                <a:ea typeface="Muli"/>
                <a:cs typeface="Muli"/>
                <a:sym typeface="Muli"/>
              </a:rPr>
              <a:t>WEATHER/ACCIDENTS</a:t>
            </a:r>
          </a:p>
        </p:txBody>
      </p:sp>
      <p:sp>
        <p:nvSpPr>
          <p:cNvPr id="21" name="TextBox 21"/>
          <p:cNvSpPr txBox="1"/>
          <p:nvPr/>
        </p:nvSpPr>
        <p:spPr>
          <a:xfrm>
            <a:off x="5801899" y="7670389"/>
            <a:ext cx="2698394" cy="751108"/>
          </a:xfrm>
          <a:prstGeom prst="rect">
            <a:avLst/>
          </a:prstGeom>
        </p:spPr>
        <p:txBody>
          <a:bodyPr lIns="0" tIns="0" rIns="0" bIns="0" rtlCol="0" anchor="t">
            <a:spAutoFit/>
          </a:bodyPr>
          <a:lstStyle/>
          <a:p>
            <a:pPr marL="0" lvl="0" indent="0" algn="ctr">
              <a:lnSpc>
                <a:spcPts val="2089"/>
              </a:lnSpc>
            </a:pPr>
            <a:r>
              <a:rPr lang="en-US" sz="1607">
                <a:solidFill>
                  <a:srgbClr val="FFFFFF"/>
                </a:solidFill>
                <a:latin typeface="Muli"/>
                <a:ea typeface="Muli"/>
                <a:cs typeface="Muli"/>
                <a:sym typeface="Muli"/>
              </a:rPr>
              <a:t>Includes problem runs, late returns, and miscellaneous issues.</a:t>
            </a:r>
          </a:p>
        </p:txBody>
      </p:sp>
      <p:sp>
        <p:nvSpPr>
          <p:cNvPr id="22" name="TextBox 22"/>
          <p:cNvSpPr txBox="1"/>
          <p:nvPr/>
        </p:nvSpPr>
        <p:spPr>
          <a:xfrm>
            <a:off x="1958325" y="7670389"/>
            <a:ext cx="2698394" cy="751108"/>
          </a:xfrm>
          <a:prstGeom prst="rect">
            <a:avLst/>
          </a:prstGeom>
        </p:spPr>
        <p:txBody>
          <a:bodyPr lIns="0" tIns="0" rIns="0" bIns="0" rtlCol="0" anchor="t">
            <a:spAutoFit/>
          </a:bodyPr>
          <a:lstStyle/>
          <a:p>
            <a:pPr marL="0" lvl="0" indent="0" algn="ctr">
              <a:lnSpc>
                <a:spcPts val="2089"/>
              </a:lnSpc>
            </a:pPr>
            <a:r>
              <a:rPr lang="en-US" sz="1607">
                <a:solidFill>
                  <a:srgbClr val="FFFFFF"/>
                </a:solidFill>
                <a:latin typeface="Muli"/>
                <a:ea typeface="Muli"/>
                <a:cs typeface="Muli"/>
                <a:sym typeface="Muli"/>
              </a:rPr>
              <a:t>Most common cause of delays across all Brooklyn incidents.</a:t>
            </a:r>
          </a:p>
        </p:txBody>
      </p:sp>
      <p:sp>
        <p:nvSpPr>
          <p:cNvPr id="23" name="TextBox 23"/>
          <p:cNvSpPr txBox="1"/>
          <p:nvPr/>
        </p:nvSpPr>
        <p:spPr>
          <a:xfrm>
            <a:off x="9629951" y="7670389"/>
            <a:ext cx="2698394" cy="493933"/>
          </a:xfrm>
          <a:prstGeom prst="rect">
            <a:avLst/>
          </a:prstGeom>
        </p:spPr>
        <p:txBody>
          <a:bodyPr lIns="0" tIns="0" rIns="0" bIns="0" rtlCol="0" anchor="t">
            <a:spAutoFit/>
          </a:bodyPr>
          <a:lstStyle/>
          <a:p>
            <a:pPr marL="0" lvl="0" indent="0" algn="ctr">
              <a:lnSpc>
                <a:spcPts val="2089"/>
              </a:lnSpc>
            </a:pPr>
            <a:r>
              <a:rPr lang="en-US" sz="1607">
                <a:solidFill>
                  <a:srgbClr val="FFFFFF"/>
                </a:solidFill>
                <a:latin typeface="Muli"/>
                <a:ea typeface="Muli"/>
                <a:cs typeface="Muli"/>
                <a:sym typeface="Muli"/>
              </a:rPr>
              <a:t>Vehicle breakdowns and won't start issues combined.</a:t>
            </a:r>
          </a:p>
        </p:txBody>
      </p:sp>
      <p:sp>
        <p:nvSpPr>
          <p:cNvPr id="24" name="TextBox 24"/>
          <p:cNvSpPr txBox="1"/>
          <p:nvPr/>
        </p:nvSpPr>
        <p:spPr>
          <a:xfrm>
            <a:off x="13429024" y="7670389"/>
            <a:ext cx="2698394" cy="751108"/>
          </a:xfrm>
          <a:prstGeom prst="rect">
            <a:avLst/>
          </a:prstGeom>
        </p:spPr>
        <p:txBody>
          <a:bodyPr lIns="0" tIns="0" rIns="0" bIns="0" rtlCol="0" anchor="t">
            <a:spAutoFit/>
          </a:bodyPr>
          <a:lstStyle/>
          <a:p>
            <a:pPr marL="0" lvl="0" indent="0" algn="ctr">
              <a:lnSpc>
                <a:spcPts val="2089"/>
              </a:lnSpc>
            </a:pPr>
            <a:r>
              <a:rPr lang="en-US" sz="1607">
                <a:solidFill>
                  <a:srgbClr val="FFFFFF"/>
                </a:solidFill>
                <a:latin typeface="Muli"/>
                <a:ea typeface="Muli"/>
                <a:cs typeface="Muli"/>
                <a:sym typeface="Muli"/>
              </a:rPr>
              <a:t>Weather conditions, flat tires, and accident-related delays.</a:t>
            </a:r>
          </a:p>
        </p:txBody>
      </p:sp>
    </p:spTree>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10097639" y="3626504"/>
            <a:ext cx="2226106" cy="206912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5" name="TextBox 5"/>
            <p:cNvSpPr txBox="1"/>
            <p:nvPr/>
          </p:nvSpPr>
          <p:spPr>
            <a:xfrm>
              <a:off x="76200" y="-19050"/>
              <a:ext cx="660400" cy="755650"/>
            </a:xfrm>
            <a:prstGeom prst="rect">
              <a:avLst/>
            </a:prstGeom>
          </p:spPr>
          <p:txBody>
            <a:bodyPr lIns="50800" tIns="50800" rIns="50800" bIns="50800" rtlCol="0" anchor="ctr"/>
            <a:lstStyle/>
            <a:p>
              <a:pPr marL="0" lvl="0" indent="0" algn="ctr">
                <a:lnSpc>
                  <a:spcPts val="5546"/>
                </a:lnSpc>
              </a:pPr>
              <a:r>
                <a:rPr lang="en-US" sz="3825" b="1" dirty="0">
                  <a:solidFill>
                    <a:srgbClr val="000000"/>
                  </a:solidFill>
                  <a:latin typeface="Muli Bold"/>
                  <a:ea typeface="Muli Bold"/>
                  <a:cs typeface="Muli Bold"/>
                  <a:sym typeface="Muli Bold"/>
                </a:rPr>
                <a:t>69,121</a:t>
              </a:r>
            </a:p>
          </p:txBody>
        </p:sp>
      </p:grpSp>
      <p:grpSp>
        <p:nvGrpSpPr>
          <p:cNvPr id="6" name="Group 6"/>
          <p:cNvGrpSpPr/>
          <p:nvPr/>
        </p:nvGrpSpPr>
        <p:grpSpPr>
          <a:xfrm>
            <a:off x="10097639" y="6572141"/>
            <a:ext cx="2226106" cy="206912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8" name="TextBox 8"/>
            <p:cNvSpPr txBox="1"/>
            <p:nvPr/>
          </p:nvSpPr>
          <p:spPr>
            <a:xfrm>
              <a:off x="76200" y="-19050"/>
              <a:ext cx="660400" cy="755650"/>
            </a:xfrm>
            <a:prstGeom prst="rect">
              <a:avLst/>
            </a:prstGeom>
          </p:spPr>
          <p:txBody>
            <a:bodyPr lIns="50800" tIns="50800" rIns="50800" bIns="50800" rtlCol="0" anchor="ctr"/>
            <a:lstStyle/>
            <a:p>
              <a:pPr marL="0" lvl="0" indent="0" algn="ctr">
                <a:lnSpc>
                  <a:spcPts val="5546"/>
                </a:lnSpc>
              </a:pPr>
              <a:r>
                <a:rPr lang="en-US" sz="3825" b="1" dirty="0">
                  <a:solidFill>
                    <a:srgbClr val="000000"/>
                  </a:solidFill>
                  <a:latin typeface="Muli Bold"/>
                  <a:ea typeface="Muli Bold"/>
                  <a:cs typeface="Muli Bold"/>
                  <a:sym typeface="Muli Bold"/>
                </a:rPr>
                <a:t>36,611</a:t>
              </a:r>
            </a:p>
          </p:txBody>
        </p:sp>
      </p:grpSp>
      <p:grpSp>
        <p:nvGrpSpPr>
          <p:cNvPr id="9" name="Group 9"/>
          <p:cNvGrpSpPr/>
          <p:nvPr/>
        </p:nvGrpSpPr>
        <p:grpSpPr>
          <a:xfrm>
            <a:off x="0" y="979933"/>
            <a:ext cx="9043427" cy="904342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sp>
      </p:grpSp>
      <p:sp>
        <p:nvSpPr>
          <p:cNvPr id="11" name="TextBox 11"/>
          <p:cNvSpPr txBox="1"/>
          <p:nvPr/>
        </p:nvSpPr>
        <p:spPr>
          <a:xfrm>
            <a:off x="9613966" y="2007384"/>
            <a:ext cx="6715709" cy="442912"/>
          </a:xfrm>
          <a:prstGeom prst="rect">
            <a:avLst/>
          </a:prstGeom>
        </p:spPr>
        <p:txBody>
          <a:bodyPr lIns="0" tIns="0" rIns="0" bIns="0" rtlCol="0" anchor="t">
            <a:spAutoFit/>
          </a:bodyPr>
          <a:lstStyle/>
          <a:p>
            <a:pPr marL="0" lvl="0" indent="0" algn="r">
              <a:lnSpc>
                <a:spcPts val="3697"/>
              </a:lnSpc>
            </a:pPr>
            <a:r>
              <a:rPr lang="en-US" sz="2550" spc="382">
                <a:solidFill>
                  <a:srgbClr val="F4D314"/>
                </a:solidFill>
                <a:latin typeface="Muli"/>
                <a:ea typeface="Muli"/>
                <a:cs typeface="Muli"/>
                <a:sym typeface="Muli"/>
              </a:rPr>
              <a:t>BROOKLYN DELAY ANALYSIS</a:t>
            </a:r>
          </a:p>
        </p:txBody>
      </p:sp>
      <p:sp>
        <p:nvSpPr>
          <p:cNvPr id="12" name="TextBox 12"/>
          <p:cNvSpPr txBox="1"/>
          <p:nvPr/>
        </p:nvSpPr>
        <p:spPr>
          <a:xfrm>
            <a:off x="1958325" y="1663131"/>
            <a:ext cx="5985375" cy="1217143"/>
          </a:xfrm>
          <a:prstGeom prst="rect">
            <a:avLst/>
          </a:prstGeom>
        </p:spPr>
        <p:txBody>
          <a:bodyPr lIns="0" tIns="0" rIns="0" bIns="0" rtlCol="0" anchor="t">
            <a:spAutoFit/>
          </a:bodyPr>
          <a:lstStyle/>
          <a:p>
            <a:pPr marL="0" lvl="0" indent="0" algn="l">
              <a:lnSpc>
                <a:spcPts val="9413"/>
              </a:lnSpc>
            </a:pPr>
            <a:r>
              <a:rPr lang="en-US" sz="8185">
                <a:solidFill>
                  <a:srgbClr val="FFFFFF"/>
                </a:solidFill>
                <a:latin typeface="League Gothic"/>
                <a:ea typeface="League Gothic"/>
                <a:cs typeface="League Gothic"/>
                <a:sym typeface="League Gothic"/>
              </a:rPr>
              <a:t>DELAY DURATION</a:t>
            </a:r>
          </a:p>
        </p:txBody>
      </p:sp>
      <p:sp>
        <p:nvSpPr>
          <p:cNvPr id="13" name="TextBox 13"/>
          <p:cNvSpPr txBox="1"/>
          <p:nvPr/>
        </p:nvSpPr>
        <p:spPr>
          <a:xfrm>
            <a:off x="12554031" y="3904392"/>
            <a:ext cx="4164850" cy="308610"/>
          </a:xfrm>
          <a:prstGeom prst="rect">
            <a:avLst/>
          </a:prstGeom>
        </p:spPr>
        <p:txBody>
          <a:bodyPr lIns="0" tIns="0" rIns="0" bIns="0" rtlCol="0" anchor="t">
            <a:spAutoFit/>
          </a:bodyPr>
          <a:lstStyle/>
          <a:p>
            <a:pPr marL="0" lvl="0" indent="0" algn="l">
              <a:lnSpc>
                <a:spcPts val="2415"/>
              </a:lnSpc>
            </a:pPr>
            <a:r>
              <a:rPr lang="en-US" sz="2100">
                <a:solidFill>
                  <a:srgbClr val="F4D314"/>
                </a:solidFill>
                <a:latin typeface="Muli"/>
                <a:ea typeface="Muli"/>
                <a:cs typeface="Muli"/>
                <a:sym typeface="Muli"/>
              </a:rPr>
              <a:t>16-30 MINUTES</a:t>
            </a:r>
          </a:p>
        </p:txBody>
      </p:sp>
      <p:sp>
        <p:nvSpPr>
          <p:cNvPr id="14" name="TextBox 14"/>
          <p:cNvSpPr txBox="1"/>
          <p:nvPr/>
        </p:nvSpPr>
        <p:spPr>
          <a:xfrm>
            <a:off x="12554031" y="4501434"/>
            <a:ext cx="3571733" cy="925830"/>
          </a:xfrm>
          <a:prstGeom prst="rect">
            <a:avLst/>
          </a:prstGeom>
        </p:spPr>
        <p:txBody>
          <a:bodyPr lIns="0" tIns="0" rIns="0" bIns="0" rtlCol="0" anchor="t">
            <a:spAutoFit/>
          </a:bodyPr>
          <a:lstStyle/>
          <a:p>
            <a:pPr marL="0" lvl="0" indent="0" algn="l">
              <a:lnSpc>
                <a:spcPts val="2520"/>
              </a:lnSpc>
            </a:pPr>
            <a:r>
              <a:rPr lang="en-US" sz="1800" dirty="0">
                <a:solidFill>
                  <a:srgbClr val="FFFFFF"/>
                </a:solidFill>
                <a:latin typeface="Muli"/>
                <a:ea typeface="Muli"/>
                <a:cs typeface="Muli"/>
                <a:sym typeface="Muli"/>
              </a:rPr>
              <a:t>Most common delay duration - represents the largest share of all Brooklyn incidents</a:t>
            </a:r>
          </a:p>
        </p:txBody>
      </p:sp>
      <p:sp>
        <p:nvSpPr>
          <p:cNvPr id="15" name="TextBox 15"/>
          <p:cNvSpPr txBox="1"/>
          <p:nvPr/>
        </p:nvSpPr>
        <p:spPr>
          <a:xfrm>
            <a:off x="12554031" y="6850029"/>
            <a:ext cx="4164850" cy="308610"/>
          </a:xfrm>
          <a:prstGeom prst="rect">
            <a:avLst/>
          </a:prstGeom>
        </p:spPr>
        <p:txBody>
          <a:bodyPr lIns="0" tIns="0" rIns="0" bIns="0" rtlCol="0" anchor="t">
            <a:spAutoFit/>
          </a:bodyPr>
          <a:lstStyle/>
          <a:p>
            <a:pPr marL="0" lvl="0" indent="0" algn="l">
              <a:lnSpc>
                <a:spcPts val="2415"/>
              </a:lnSpc>
            </a:pPr>
            <a:r>
              <a:rPr lang="en-US" sz="2100">
                <a:solidFill>
                  <a:srgbClr val="F4D314"/>
                </a:solidFill>
                <a:latin typeface="Muli"/>
                <a:ea typeface="Muli"/>
                <a:cs typeface="Muli"/>
                <a:sym typeface="Muli"/>
              </a:rPr>
              <a:t>31-45 MINUTES</a:t>
            </a:r>
          </a:p>
        </p:txBody>
      </p:sp>
      <p:sp>
        <p:nvSpPr>
          <p:cNvPr id="16" name="TextBox 16"/>
          <p:cNvSpPr txBox="1"/>
          <p:nvPr/>
        </p:nvSpPr>
        <p:spPr>
          <a:xfrm>
            <a:off x="12554031" y="7447071"/>
            <a:ext cx="3571733" cy="925830"/>
          </a:xfrm>
          <a:prstGeom prst="rect">
            <a:avLst/>
          </a:prstGeom>
        </p:spPr>
        <p:txBody>
          <a:bodyPr lIns="0" tIns="0" rIns="0" bIns="0" rtlCol="0" anchor="t">
            <a:spAutoFit/>
          </a:bodyPr>
          <a:lstStyle/>
          <a:p>
            <a:pPr marL="0" lvl="0" indent="0" algn="l">
              <a:lnSpc>
                <a:spcPts val="2520"/>
              </a:lnSpc>
            </a:pPr>
            <a:r>
              <a:rPr lang="en-US" sz="1800">
                <a:solidFill>
                  <a:srgbClr val="FFFFFF"/>
                </a:solidFill>
                <a:latin typeface="Muli"/>
                <a:ea typeface="Muli"/>
                <a:cs typeface="Muli"/>
                <a:sym typeface="Muli"/>
              </a:rPr>
              <a:t>Second most frequent delay range - significant portion of extended delays</a:t>
            </a: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9613966" y="1977984"/>
            <a:ext cx="6715709" cy="492187"/>
          </a:xfrm>
          <a:prstGeom prst="rect">
            <a:avLst/>
          </a:prstGeom>
        </p:spPr>
        <p:txBody>
          <a:bodyPr lIns="0" tIns="0" rIns="0" bIns="0" rtlCol="0" anchor="t">
            <a:spAutoFit/>
          </a:bodyPr>
          <a:lstStyle/>
          <a:p>
            <a:pPr marL="0" lvl="0" indent="0" algn="r">
              <a:lnSpc>
                <a:spcPts val="4057"/>
              </a:lnSpc>
            </a:pPr>
            <a:r>
              <a:rPr lang="en-US" sz="2798" spc="419">
                <a:solidFill>
                  <a:srgbClr val="F4D314"/>
                </a:solidFill>
                <a:latin typeface="Muli"/>
                <a:ea typeface="Muli"/>
                <a:cs typeface="Muli"/>
                <a:sym typeface="Muli"/>
              </a:rPr>
              <a:t>NYC SCHOOL BUS DATA</a:t>
            </a:r>
          </a:p>
        </p:txBody>
      </p:sp>
      <p:sp>
        <p:nvSpPr>
          <p:cNvPr id="4" name="TextBox 4"/>
          <p:cNvSpPr txBox="1"/>
          <p:nvPr/>
        </p:nvSpPr>
        <p:spPr>
          <a:xfrm>
            <a:off x="1958325" y="1683517"/>
            <a:ext cx="7655641" cy="1185895"/>
          </a:xfrm>
          <a:prstGeom prst="rect">
            <a:avLst/>
          </a:prstGeom>
        </p:spPr>
        <p:txBody>
          <a:bodyPr lIns="0" tIns="0" rIns="0" bIns="0" rtlCol="0" anchor="t">
            <a:spAutoFit/>
          </a:bodyPr>
          <a:lstStyle/>
          <a:p>
            <a:pPr marL="0" lvl="0" indent="0" algn="l">
              <a:lnSpc>
                <a:spcPts val="9259"/>
              </a:lnSpc>
            </a:pPr>
            <a:r>
              <a:rPr lang="en-US" sz="8051">
                <a:solidFill>
                  <a:srgbClr val="FFFFFF"/>
                </a:solidFill>
                <a:latin typeface="League Gothic"/>
                <a:ea typeface="League Gothic"/>
                <a:cs typeface="League Gothic"/>
                <a:sym typeface="League Gothic"/>
              </a:rPr>
              <a:t>BROOKLYN DELAYS BY HOUR</a:t>
            </a:r>
          </a:p>
        </p:txBody>
      </p:sp>
      <p:grpSp>
        <p:nvGrpSpPr>
          <p:cNvPr id="5" name="Group 5"/>
          <p:cNvGrpSpPr/>
          <p:nvPr/>
        </p:nvGrpSpPr>
        <p:grpSpPr>
          <a:xfrm>
            <a:off x="4457828" y="3650455"/>
            <a:ext cx="2624131" cy="262413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7" name="TextBox 7"/>
            <p:cNvSpPr txBox="1"/>
            <p:nvPr/>
          </p:nvSpPr>
          <p:spPr>
            <a:xfrm>
              <a:off x="76200" y="-38100"/>
              <a:ext cx="660400" cy="774700"/>
            </a:xfrm>
            <a:prstGeom prst="rect">
              <a:avLst/>
            </a:prstGeom>
          </p:spPr>
          <p:txBody>
            <a:bodyPr lIns="50800" tIns="50800" rIns="50800" bIns="50800" rtlCol="0" anchor="ctr"/>
            <a:lstStyle/>
            <a:p>
              <a:pPr marL="0" lvl="0" indent="0" algn="ctr">
                <a:lnSpc>
                  <a:spcPts val="6955"/>
                </a:lnSpc>
              </a:pPr>
              <a:r>
                <a:rPr lang="en-US" sz="4796" b="1">
                  <a:solidFill>
                    <a:srgbClr val="000000"/>
                  </a:solidFill>
                  <a:latin typeface="Muli Bold"/>
                  <a:ea typeface="Muli Bold"/>
                  <a:cs typeface="Muli Bold"/>
                  <a:sym typeface="Muli Bold"/>
                </a:rPr>
                <a:t>99,578</a:t>
              </a:r>
            </a:p>
          </p:txBody>
        </p:sp>
      </p:grpSp>
      <p:sp>
        <p:nvSpPr>
          <p:cNvPr id="8" name="TextBox 8"/>
          <p:cNvSpPr txBox="1"/>
          <p:nvPr/>
        </p:nvSpPr>
        <p:spPr>
          <a:xfrm>
            <a:off x="3657455" y="6644362"/>
            <a:ext cx="4224877" cy="338445"/>
          </a:xfrm>
          <a:prstGeom prst="rect">
            <a:avLst/>
          </a:prstGeom>
        </p:spPr>
        <p:txBody>
          <a:bodyPr lIns="0" tIns="0" rIns="0" bIns="0" rtlCol="0" anchor="t">
            <a:spAutoFit/>
          </a:bodyPr>
          <a:lstStyle/>
          <a:p>
            <a:pPr marL="0" lvl="0" indent="0" algn="ctr">
              <a:lnSpc>
                <a:spcPts val="2643"/>
              </a:lnSpc>
            </a:pPr>
            <a:r>
              <a:rPr lang="en-US" sz="2298">
                <a:solidFill>
                  <a:srgbClr val="F4D314"/>
                </a:solidFill>
                <a:latin typeface="Muli"/>
                <a:ea typeface="Muli"/>
                <a:cs typeface="Muli"/>
                <a:sym typeface="Muli"/>
              </a:rPr>
              <a:t>7:00 AM PEAK HOUR</a:t>
            </a:r>
          </a:p>
        </p:txBody>
      </p:sp>
      <p:sp>
        <p:nvSpPr>
          <p:cNvPr id="9" name="TextBox 9"/>
          <p:cNvSpPr txBox="1"/>
          <p:nvPr/>
        </p:nvSpPr>
        <p:spPr>
          <a:xfrm>
            <a:off x="2849500" y="7180776"/>
            <a:ext cx="5840786" cy="1092835"/>
          </a:xfrm>
          <a:prstGeom prst="rect">
            <a:avLst/>
          </a:prstGeom>
        </p:spPr>
        <p:txBody>
          <a:bodyPr lIns="0" tIns="0" rIns="0" bIns="0" rtlCol="0" anchor="t">
            <a:spAutoFit/>
          </a:bodyPr>
          <a:lstStyle/>
          <a:p>
            <a:pPr marL="0" lvl="0" indent="0" algn="ctr">
              <a:lnSpc>
                <a:spcPts val="2210"/>
              </a:lnSpc>
            </a:pPr>
            <a:r>
              <a:rPr lang="en-US" sz="1700">
                <a:solidFill>
                  <a:srgbClr val="FFFFFF"/>
                </a:solidFill>
                <a:latin typeface="Muli"/>
                <a:ea typeface="Muli"/>
                <a:cs typeface="Muli"/>
                <a:sym typeface="Muli"/>
              </a:rPr>
              <a:t>The morning rush hour at 7:00 AM experiences the highest number of delay incidents in Brooklyn. This peak aligns with school start times when traffic congestion is at its worst.</a:t>
            </a:r>
          </a:p>
        </p:txBody>
      </p:sp>
      <p:grpSp>
        <p:nvGrpSpPr>
          <p:cNvPr id="10" name="Group 10"/>
          <p:cNvGrpSpPr/>
          <p:nvPr/>
        </p:nvGrpSpPr>
        <p:grpSpPr>
          <a:xfrm>
            <a:off x="11206041" y="3650455"/>
            <a:ext cx="2624131" cy="262413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12" name="TextBox 12"/>
            <p:cNvSpPr txBox="1"/>
            <p:nvPr/>
          </p:nvSpPr>
          <p:spPr>
            <a:xfrm>
              <a:off x="76200" y="-38100"/>
              <a:ext cx="660400" cy="774700"/>
            </a:xfrm>
            <a:prstGeom prst="rect">
              <a:avLst/>
            </a:prstGeom>
          </p:spPr>
          <p:txBody>
            <a:bodyPr lIns="50800" tIns="50800" rIns="50800" bIns="50800" rtlCol="0" anchor="ctr"/>
            <a:lstStyle/>
            <a:p>
              <a:pPr marL="0" lvl="0" indent="0" algn="ctr">
                <a:lnSpc>
                  <a:spcPts val="6955"/>
                </a:lnSpc>
              </a:pPr>
              <a:r>
                <a:rPr lang="en-US" sz="4796" b="1">
                  <a:solidFill>
                    <a:srgbClr val="000000"/>
                  </a:solidFill>
                  <a:latin typeface="Muli Bold"/>
                  <a:ea typeface="Muli Bold"/>
                  <a:cs typeface="Muli Bold"/>
                  <a:sym typeface="Muli Bold"/>
                </a:rPr>
                <a:t>90,871</a:t>
              </a:r>
            </a:p>
          </p:txBody>
        </p:sp>
      </p:grpSp>
      <p:sp>
        <p:nvSpPr>
          <p:cNvPr id="13" name="TextBox 13"/>
          <p:cNvSpPr txBox="1"/>
          <p:nvPr/>
        </p:nvSpPr>
        <p:spPr>
          <a:xfrm>
            <a:off x="10405669" y="6644362"/>
            <a:ext cx="4224877" cy="338445"/>
          </a:xfrm>
          <a:prstGeom prst="rect">
            <a:avLst/>
          </a:prstGeom>
        </p:spPr>
        <p:txBody>
          <a:bodyPr lIns="0" tIns="0" rIns="0" bIns="0" rtlCol="0" anchor="t">
            <a:spAutoFit/>
          </a:bodyPr>
          <a:lstStyle/>
          <a:p>
            <a:pPr marL="0" lvl="0" indent="0" algn="ctr">
              <a:lnSpc>
                <a:spcPts val="2643"/>
              </a:lnSpc>
            </a:pPr>
            <a:r>
              <a:rPr lang="en-US" sz="2298">
                <a:solidFill>
                  <a:srgbClr val="F4D314"/>
                </a:solidFill>
                <a:latin typeface="Muli"/>
                <a:ea typeface="Muli"/>
                <a:cs typeface="Muli"/>
                <a:sym typeface="Muli"/>
              </a:rPr>
              <a:t>6:00 AM INCIDENTS</a:t>
            </a:r>
          </a:p>
        </p:txBody>
      </p:sp>
      <p:sp>
        <p:nvSpPr>
          <p:cNvPr id="14" name="TextBox 14"/>
          <p:cNvSpPr txBox="1"/>
          <p:nvPr/>
        </p:nvSpPr>
        <p:spPr>
          <a:xfrm>
            <a:off x="9597714" y="7180776"/>
            <a:ext cx="5840786" cy="1092835"/>
          </a:xfrm>
          <a:prstGeom prst="rect">
            <a:avLst/>
          </a:prstGeom>
        </p:spPr>
        <p:txBody>
          <a:bodyPr lIns="0" tIns="0" rIns="0" bIns="0" rtlCol="0" anchor="t">
            <a:spAutoFit/>
          </a:bodyPr>
          <a:lstStyle/>
          <a:p>
            <a:pPr marL="0" lvl="0" indent="0" algn="ctr">
              <a:lnSpc>
                <a:spcPts val="2210"/>
              </a:lnSpc>
            </a:pPr>
            <a:r>
              <a:rPr lang="en-US" sz="1700">
                <a:solidFill>
                  <a:srgbClr val="FFFFFF"/>
                </a:solidFill>
                <a:latin typeface="Muli"/>
                <a:ea typeface="Muli"/>
                <a:cs typeface="Muli"/>
                <a:sym typeface="Muli"/>
              </a:rPr>
              <a:t>The 6:00 AM hour also shows significant delay activity as early morning bus routes begin. Together, these two morning hours account for the majority of Brooklyn's daily bus delays.</a:t>
            </a:r>
          </a:p>
        </p:txBody>
      </p:sp>
    </p:spTree>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pic>
        <p:nvPicPr>
          <p:cNvPr id="3" name="Picture 3"/>
          <p:cNvPicPr>
            <a:picLocks noChangeAspect="1"/>
          </p:cNvPicPr>
          <p:nvPr/>
        </p:nvPicPr>
        <p:blipFill>
          <a:blip r:embed="rId3"/>
          <a:stretch>
            <a:fillRect/>
          </a:stretch>
        </p:blipFill>
        <p:spPr>
          <a:xfrm>
            <a:off x="9702159" y="3229101"/>
            <a:ext cx="7989194" cy="6449296"/>
          </a:xfrm>
          <a:prstGeom prst="rect">
            <a:avLst/>
          </a:prstGeom>
        </p:spPr>
      </p:pic>
      <p:grpSp>
        <p:nvGrpSpPr>
          <p:cNvPr id="4" name="Group 4"/>
          <p:cNvGrpSpPr/>
          <p:nvPr/>
        </p:nvGrpSpPr>
        <p:grpSpPr>
          <a:xfrm>
            <a:off x="1958325" y="4543035"/>
            <a:ext cx="2069123" cy="206912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6" name="TextBox 6"/>
            <p:cNvSpPr txBox="1"/>
            <p:nvPr/>
          </p:nvSpPr>
          <p:spPr>
            <a:xfrm>
              <a:off x="76200" y="9525"/>
              <a:ext cx="660400" cy="727075"/>
            </a:xfrm>
            <a:prstGeom prst="rect">
              <a:avLst/>
            </a:prstGeom>
          </p:spPr>
          <p:txBody>
            <a:bodyPr lIns="50800" tIns="50800" rIns="50800" bIns="50800" rtlCol="0" anchor="ctr"/>
            <a:lstStyle/>
            <a:p>
              <a:pPr marL="0" lvl="0" indent="0" algn="ctr">
                <a:lnSpc>
                  <a:spcPts val="4640"/>
                </a:lnSpc>
              </a:pPr>
              <a:r>
                <a:rPr lang="en-US" sz="3200" b="1">
                  <a:solidFill>
                    <a:srgbClr val="000000"/>
                  </a:solidFill>
                  <a:latin typeface="Muli Bold"/>
                  <a:ea typeface="Muli Bold"/>
                  <a:cs typeface="Muli Bold"/>
                  <a:sym typeface="Muli Bold"/>
                </a:rPr>
                <a:t>57,876</a:t>
              </a:r>
            </a:p>
          </p:txBody>
        </p:sp>
      </p:grpSp>
      <p:grpSp>
        <p:nvGrpSpPr>
          <p:cNvPr id="7" name="Group 7"/>
          <p:cNvGrpSpPr/>
          <p:nvPr/>
        </p:nvGrpSpPr>
        <p:grpSpPr>
          <a:xfrm>
            <a:off x="1958325" y="6926483"/>
            <a:ext cx="2069123" cy="206912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9" name="TextBox 9"/>
            <p:cNvSpPr txBox="1"/>
            <p:nvPr/>
          </p:nvSpPr>
          <p:spPr>
            <a:xfrm>
              <a:off x="76200" y="9525"/>
              <a:ext cx="660400" cy="727075"/>
            </a:xfrm>
            <a:prstGeom prst="rect">
              <a:avLst/>
            </a:prstGeom>
          </p:spPr>
          <p:txBody>
            <a:bodyPr lIns="50800" tIns="50800" rIns="50800" bIns="50800" rtlCol="0" anchor="ctr"/>
            <a:lstStyle/>
            <a:p>
              <a:pPr marL="0" lvl="0" indent="0" algn="ctr">
                <a:lnSpc>
                  <a:spcPts val="4640"/>
                </a:lnSpc>
              </a:pPr>
              <a:r>
                <a:rPr lang="en-US" sz="3200" b="1">
                  <a:solidFill>
                    <a:srgbClr val="000000"/>
                  </a:solidFill>
                  <a:latin typeface="Muli Bold"/>
                  <a:ea typeface="Muli Bold"/>
                  <a:cs typeface="Muli Bold"/>
                  <a:sym typeface="Muli Bold"/>
                </a:rPr>
                <a:t>57,280</a:t>
              </a:r>
            </a:p>
          </p:txBody>
        </p:sp>
      </p:grpSp>
      <p:sp>
        <p:nvSpPr>
          <p:cNvPr id="10" name="TextBox 10"/>
          <p:cNvSpPr txBox="1"/>
          <p:nvPr/>
        </p:nvSpPr>
        <p:spPr>
          <a:xfrm>
            <a:off x="9613966" y="1978015"/>
            <a:ext cx="6715709" cy="492125"/>
          </a:xfrm>
          <a:prstGeom prst="rect">
            <a:avLst/>
          </a:prstGeom>
        </p:spPr>
        <p:txBody>
          <a:bodyPr lIns="0" tIns="0" rIns="0" bIns="0" rtlCol="0" anchor="t">
            <a:spAutoFit/>
          </a:bodyPr>
          <a:lstStyle/>
          <a:p>
            <a:pPr marL="0" lvl="0" indent="0" algn="r">
              <a:lnSpc>
                <a:spcPts val="4059"/>
              </a:lnSpc>
            </a:pPr>
            <a:r>
              <a:rPr lang="en-US" sz="2799" spc="419">
                <a:solidFill>
                  <a:srgbClr val="F4D314"/>
                </a:solidFill>
                <a:latin typeface="Muli"/>
                <a:ea typeface="Muli"/>
                <a:cs typeface="Muli"/>
                <a:sym typeface="Muli"/>
              </a:rPr>
              <a:t>NYC SCHOOL BUS DATA</a:t>
            </a:r>
          </a:p>
        </p:txBody>
      </p:sp>
      <p:sp>
        <p:nvSpPr>
          <p:cNvPr id="11" name="TextBox 11"/>
          <p:cNvSpPr txBox="1"/>
          <p:nvPr/>
        </p:nvSpPr>
        <p:spPr>
          <a:xfrm>
            <a:off x="1958325" y="1689121"/>
            <a:ext cx="7655641" cy="2410880"/>
          </a:xfrm>
          <a:prstGeom prst="rect">
            <a:avLst/>
          </a:prstGeom>
        </p:spPr>
        <p:txBody>
          <a:bodyPr lIns="0" tIns="0" rIns="0" bIns="0" rtlCol="0" anchor="t">
            <a:spAutoFit/>
          </a:bodyPr>
          <a:lstStyle/>
          <a:p>
            <a:pPr marL="0" lvl="0" indent="0" algn="l">
              <a:lnSpc>
                <a:spcPts val="9413"/>
              </a:lnSpc>
            </a:pPr>
            <a:r>
              <a:rPr lang="en-US" sz="8185">
                <a:solidFill>
                  <a:srgbClr val="FFFFFF"/>
                </a:solidFill>
                <a:latin typeface="League Gothic"/>
                <a:ea typeface="League Gothic"/>
                <a:cs typeface="League Gothic"/>
                <a:sym typeface="League Gothic"/>
              </a:rPr>
              <a:t>BROOKLYN DELAYS</a:t>
            </a:r>
          </a:p>
          <a:p>
            <a:pPr marL="0" lvl="0" indent="0" algn="l">
              <a:lnSpc>
                <a:spcPts val="9413"/>
              </a:lnSpc>
            </a:pPr>
            <a:r>
              <a:rPr lang="en-US" sz="8185">
                <a:solidFill>
                  <a:srgbClr val="FFFFFF"/>
                </a:solidFill>
                <a:latin typeface="League Gothic"/>
                <a:ea typeface="League Gothic"/>
                <a:cs typeface="League Gothic"/>
                <a:sym typeface="League Gothic"/>
              </a:rPr>
              <a:t>BY DAY OF WEEK</a:t>
            </a:r>
          </a:p>
        </p:txBody>
      </p:sp>
      <p:sp>
        <p:nvSpPr>
          <p:cNvPr id="12" name="TextBox 12"/>
          <p:cNvSpPr txBox="1"/>
          <p:nvPr/>
        </p:nvSpPr>
        <p:spPr>
          <a:xfrm>
            <a:off x="4414717" y="4820923"/>
            <a:ext cx="4164850" cy="308610"/>
          </a:xfrm>
          <a:prstGeom prst="rect">
            <a:avLst/>
          </a:prstGeom>
        </p:spPr>
        <p:txBody>
          <a:bodyPr lIns="0" tIns="0" rIns="0" bIns="0" rtlCol="0" anchor="t">
            <a:spAutoFit/>
          </a:bodyPr>
          <a:lstStyle/>
          <a:p>
            <a:pPr marL="0" lvl="0" indent="0" algn="l">
              <a:lnSpc>
                <a:spcPts val="2415"/>
              </a:lnSpc>
            </a:pPr>
            <a:r>
              <a:rPr lang="en-US" sz="2100">
                <a:solidFill>
                  <a:srgbClr val="F4D314"/>
                </a:solidFill>
                <a:latin typeface="Muli"/>
                <a:ea typeface="Muli"/>
                <a:cs typeface="Muli"/>
                <a:sym typeface="Muli"/>
              </a:rPr>
              <a:t>WEDNESDAY</a:t>
            </a:r>
          </a:p>
        </p:txBody>
      </p:sp>
      <p:sp>
        <p:nvSpPr>
          <p:cNvPr id="13" name="TextBox 13"/>
          <p:cNvSpPr txBox="1"/>
          <p:nvPr/>
        </p:nvSpPr>
        <p:spPr>
          <a:xfrm>
            <a:off x="4414717" y="5417965"/>
            <a:ext cx="3571733" cy="925830"/>
          </a:xfrm>
          <a:prstGeom prst="rect">
            <a:avLst/>
          </a:prstGeom>
        </p:spPr>
        <p:txBody>
          <a:bodyPr lIns="0" tIns="0" rIns="0" bIns="0" rtlCol="0" anchor="t">
            <a:spAutoFit/>
          </a:bodyPr>
          <a:lstStyle/>
          <a:p>
            <a:pPr marL="0" lvl="0" indent="0" algn="l">
              <a:lnSpc>
                <a:spcPts val="2520"/>
              </a:lnSpc>
            </a:pPr>
            <a:r>
              <a:rPr lang="en-US" sz="1800">
                <a:solidFill>
                  <a:srgbClr val="FFFFFF"/>
                </a:solidFill>
                <a:latin typeface="Muli"/>
                <a:ea typeface="Muli"/>
                <a:cs typeface="Muli"/>
                <a:sym typeface="Muli"/>
              </a:rPr>
              <a:t>Highest delay day with 57,876 incidents - midweek experiences peak frequencies.</a:t>
            </a:r>
          </a:p>
        </p:txBody>
      </p:sp>
      <p:sp>
        <p:nvSpPr>
          <p:cNvPr id="14" name="TextBox 14"/>
          <p:cNvSpPr txBox="1"/>
          <p:nvPr/>
        </p:nvSpPr>
        <p:spPr>
          <a:xfrm>
            <a:off x="4414717" y="7204370"/>
            <a:ext cx="4164850" cy="308610"/>
          </a:xfrm>
          <a:prstGeom prst="rect">
            <a:avLst/>
          </a:prstGeom>
        </p:spPr>
        <p:txBody>
          <a:bodyPr lIns="0" tIns="0" rIns="0" bIns="0" rtlCol="0" anchor="t">
            <a:spAutoFit/>
          </a:bodyPr>
          <a:lstStyle/>
          <a:p>
            <a:pPr marL="0" lvl="0" indent="0" algn="l">
              <a:lnSpc>
                <a:spcPts val="2415"/>
              </a:lnSpc>
            </a:pPr>
            <a:r>
              <a:rPr lang="en-US" sz="2100">
                <a:solidFill>
                  <a:srgbClr val="F4D314"/>
                </a:solidFill>
                <a:latin typeface="Muli"/>
                <a:ea typeface="Muli"/>
                <a:cs typeface="Muli"/>
                <a:sym typeface="Muli"/>
              </a:rPr>
              <a:t>MONDAY</a:t>
            </a:r>
          </a:p>
        </p:txBody>
      </p:sp>
      <p:sp>
        <p:nvSpPr>
          <p:cNvPr id="15" name="TextBox 15"/>
          <p:cNvSpPr txBox="1"/>
          <p:nvPr/>
        </p:nvSpPr>
        <p:spPr>
          <a:xfrm>
            <a:off x="4414717" y="7801413"/>
            <a:ext cx="3571733" cy="925830"/>
          </a:xfrm>
          <a:prstGeom prst="rect">
            <a:avLst/>
          </a:prstGeom>
        </p:spPr>
        <p:txBody>
          <a:bodyPr lIns="0" tIns="0" rIns="0" bIns="0" rtlCol="0" anchor="t">
            <a:spAutoFit/>
          </a:bodyPr>
          <a:lstStyle/>
          <a:p>
            <a:pPr marL="0" lvl="0" indent="0" algn="l">
              <a:lnSpc>
                <a:spcPts val="2520"/>
              </a:lnSpc>
            </a:pPr>
            <a:r>
              <a:rPr lang="en-US" sz="1800">
                <a:solidFill>
                  <a:srgbClr val="FFFFFF"/>
                </a:solidFill>
                <a:latin typeface="Muli"/>
                <a:ea typeface="Muli"/>
                <a:cs typeface="Muli"/>
                <a:sym typeface="Muli"/>
              </a:rPr>
              <a:t>Second highest with 57,280 incidents, closely following Wednesday's peak.</a:t>
            </a:r>
          </a:p>
        </p:txBody>
      </p:sp>
      <p:sp>
        <p:nvSpPr>
          <p:cNvPr id="16" name="TextBox 16"/>
          <p:cNvSpPr txBox="1"/>
          <p:nvPr/>
        </p:nvSpPr>
        <p:spPr>
          <a:xfrm>
            <a:off x="16079142" y="4109526"/>
            <a:ext cx="1585065" cy="308610"/>
          </a:xfrm>
          <a:prstGeom prst="rect">
            <a:avLst/>
          </a:prstGeom>
        </p:spPr>
        <p:txBody>
          <a:bodyPr lIns="0" tIns="0" rIns="0" bIns="0" rtlCol="0" anchor="t">
            <a:spAutoFit/>
          </a:bodyPr>
          <a:lstStyle/>
          <a:p>
            <a:pPr algn="ctr">
              <a:lnSpc>
                <a:spcPts val="2415"/>
              </a:lnSpc>
              <a:spcBef>
                <a:spcPct val="0"/>
              </a:spcBef>
            </a:pPr>
            <a:r>
              <a:rPr lang="en-US" sz="2100">
                <a:solidFill>
                  <a:srgbClr val="FFFFFF"/>
                </a:solidFill>
                <a:latin typeface="Muli"/>
                <a:ea typeface="Muli"/>
                <a:cs typeface="Muli"/>
                <a:sym typeface="Muli"/>
              </a:rPr>
              <a:t>57,2K</a:t>
            </a:r>
          </a:p>
        </p:txBody>
      </p:sp>
      <p:sp>
        <p:nvSpPr>
          <p:cNvPr id="17" name="TextBox 17"/>
          <p:cNvSpPr txBox="1"/>
          <p:nvPr/>
        </p:nvSpPr>
        <p:spPr>
          <a:xfrm>
            <a:off x="16079142" y="4834890"/>
            <a:ext cx="1585065" cy="308610"/>
          </a:xfrm>
          <a:prstGeom prst="rect">
            <a:avLst/>
          </a:prstGeom>
        </p:spPr>
        <p:txBody>
          <a:bodyPr lIns="0" tIns="0" rIns="0" bIns="0" rtlCol="0" anchor="t">
            <a:spAutoFit/>
          </a:bodyPr>
          <a:lstStyle/>
          <a:p>
            <a:pPr algn="ctr">
              <a:lnSpc>
                <a:spcPts val="2415"/>
              </a:lnSpc>
              <a:spcBef>
                <a:spcPct val="0"/>
              </a:spcBef>
            </a:pPr>
            <a:r>
              <a:rPr lang="en-US" sz="2100">
                <a:solidFill>
                  <a:srgbClr val="FFFFFF"/>
                </a:solidFill>
                <a:latin typeface="Muli"/>
                <a:ea typeface="Muli"/>
                <a:cs typeface="Muli"/>
                <a:sym typeface="Muli"/>
              </a:rPr>
              <a:t>55,7K</a:t>
            </a:r>
          </a:p>
        </p:txBody>
      </p:sp>
      <p:sp>
        <p:nvSpPr>
          <p:cNvPr id="18" name="TextBox 18"/>
          <p:cNvSpPr txBox="1"/>
          <p:nvPr/>
        </p:nvSpPr>
        <p:spPr>
          <a:xfrm>
            <a:off x="16152412" y="5562600"/>
            <a:ext cx="1585065" cy="308610"/>
          </a:xfrm>
          <a:prstGeom prst="rect">
            <a:avLst/>
          </a:prstGeom>
        </p:spPr>
        <p:txBody>
          <a:bodyPr lIns="0" tIns="0" rIns="0" bIns="0" rtlCol="0" anchor="t">
            <a:spAutoFit/>
          </a:bodyPr>
          <a:lstStyle/>
          <a:p>
            <a:pPr algn="ctr">
              <a:lnSpc>
                <a:spcPts val="2415"/>
              </a:lnSpc>
              <a:spcBef>
                <a:spcPct val="0"/>
              </a:spcBef>
            </a:pPr>
            <a:r>
              <a:rPr lang="en-US" sz="2100">
                <a:solidFill>
                  <a:srgbClr val="FFFFFF"/>
                </a:solidFill>
                <a:latin typeface="Muli"/>
                <a:ea typeface="Muli"/>
                <a:cs typeface="Muli"/>
                <a:sym typeface="Muli"/>
              </a:rPr>
              <a:t>57,9K</a:t>
            </a:r>
          </a:p>
        </p:txBody>
      </p:sp>
      <p:sp>
        <p:nvSpPr>
          <p:cNvPr id="19" name="TextBox 19"/>
          <p:cNvSpPr txBox="1"/>
          <p:nvPr/>
        </p:nvSpPr>
        <p:spPr>
          <a:xfrm>
            <a:off x="16314783" y="6290310"/>
            <a:ext cx="906417" cy="307777"/>
          </a:xfrm>
          <a:prstGeom prst="rect">
            <a:avLst/>
          </a:prstGeom>
        </p:spPr>
        <p:txBody>
          <a:bodyPr wrap="square" lIns="0" tIns="0" rIns="0" bIns="0" rtlCol="0" anchor="t">
            <a:spAutoFit/>
          </a:bodyPr>
          <a:lstStyle/>
          <a:p>
            <a:pPr algn="ctr">
              <a:lnSpc>
                <a:spcPts val="2415"/>
              </a:lnSpc>
              <a:spcBef>
                <a:spcPct val="0"/>
              </a:spcBef>
            </a:pPr>
            <a:r>
              <a:rPr lang="en-US" sz="2100" dirty="0">
                <a:solidFill>
                  <a:srgbClr val="FFFFFF"/>
                </a:solidFill>
                <a:latin typeface="Muli"/>
                <a:ea typeface="Muli"/>
                <a:cs typeface="Muli"/>
                <a:sym typeface="Muli"/>
              </a:rPr>
              <a:t>54,3K</a:t>
            </a:r>
          </a:p>
        </p:txBody>
      </p:sp>
      <p:sp>
        <p:nvSpPr>
          <p:cNvPr id="20" name="TextBox 20"/>
          <p:cNvSpPr txBox="1"/>
          <p:nvPr/>
        </p:nvSpPr>
        <p:spPr>
          <a:xfrm>
            <a:off x="16171462" y="6886234"/>
            <a:ext cx="668738" cy="318135"/>
          </a:xfrm>
          <a:prstGeom prst="rect">
            <a:avLst/>
          </a:prstGeom>
        </p:spPr>
        <p:txBody>
          <a:bodyPr wrap="square" lIns="0" tIns="0" rIns="0" bIns="0" rtlCol="0" anchor="t">
            <a:spAutoFit/>
          </a:bodyPr>
          <a:lstStyle/>
          <a:p>
            <a:pPr algn="ctr">
              <a:lnSpc>
                <a:spcPts val="2415"/>
              </a:lnSpc>
              <a:spcBef>
                <a:spcPct val="0"/>
              </a:spcBef>
            </a:pPr>
            <a:r>
              <a:rPr lang="en-US" sz="2100" dirty="0">
                <a:solidFill>
                  <a:srgbClr val="FFFFFF"/>
                </a:solidFill>
                <a:latin typeface="Muli"/>
                <a:ea typeface="Muli"/>
                <a:cs typeface="Muli"/>
                <a:sym typeface="Muli"/>
              </a:rPr>
              <a:t>53K</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960235" y="1028700"/>
            <a:ext cx="9043427" cy="904342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a:stretch>
            </a:blipFill>
          </p:spPr>
        </p:sp>
      </p:grpSp>
      <p:sp>
        <p:nvSpPr>
          <p:cNvPr id="5" name="TextBox 5"/>
          <p:cNvSpPr txBox="1"/>
          <p:nvPr/>
        </p:nvSpPr>
        <p:spPr>
          <a:xfrm>
            <a:off x="9613966" y="1720840"/>
            <a:ext cx="6715709" cy="1006475"/>
          </a:xfrm>
          <a:prstGeom prst="rect">
            <a:avLst/>
          </a:prstGeom>
        </p:spPr>
        <p:txBody>
          <a:bodyPr lIns="0" tIns="0" rIns="0" bIns="0" rtlCol="0" anchor="t">
            <a:spAutoFit/>
          </a:bodyPr>
          <a:lstStyle/>
          <a:p>
            <a:pPr marL="0" lvl="0" indent="0" algn="r">
              <a:lnSpc>
                <a:spcPts val="4059"/>
              </a:lnSpc>
            </a:pPr>
            <a:r>
              <a:rPr lang="en-US" sz="2799" spc="419">
                <a:solidFill>
                  <a:srgbClr val="F4D314"/>
                </a:solidFill>
                <a:latin typeface="Muli"/>
                <a:ea typeface="Muli"/>
                <a:cs typeface="Muli"/>
                <a:sym typeface="Muli"/>
              </a:rPr>
              <a:t>NYC SCHOOL BUS DATA ANALYSIS</a:t>
            </a:r>
          </a:p>
        </p:txBody>
      </p:sp>
      <p:sp>
        <p:nvSpPr>
          <p:cNvPr id="6" name="TextBox 6"/>
          <p:cNvSpPr txBox="1"/>
          <p:nvPr/>
        </p:nvSpPr>
        <p:spPr>
          <a:xfrm>
            <a:off x="1958325" y="1663131"/>
            <a:ext cx="7655641" cy="1217143"/>
          </a:xfrm>
          <a:prstGeom prst="rect">
            <a:avLst/>
          </a:prstGeom>
        </p:spPr>
        <p:txBody>
          <a:bodyPr lIns="0" tIns="0" rIns="0" bIns="0" rtlCol="0" anchor="t">
            <a:spAutoFit/>
          </a:bodyPr>
          <a:lstStyle/>
          <a:p>
            <a:pPr marL="0" lvl="0" indent="0" algn="l">
              <a:lnSpc>
                <a:spcPts val="9413"/>
              </a:lnSpc>
            </a:pPr>
            <a:r>
              <a:rPr lang="en-US" sz="8185">
                <a:solidFill>
                  <a:srgbClr val="FFFFFF"/>
                </a:solidFill>
                <a:latin typeface="League Gothic"/>
                <a:ea typeface="League Gothic"/>
                <a:cs typeface="League Gothic"/>
                <a:sym typeface="League Gothic"/>
              </a:rPr>
              <a:t>KEY INSIGHTS SUMMARY</a:t>
            </a:r>
          </a:p>
        </p:txBody>
      </p:sp>
      <p:sp>
        <p:nvSpPr>
          <p:cNvPr id="7" name="TextBox 7"/>
          <p:cNvSpPr txBox="1"/>
          <p:nvPr/>
        </p:nvSpPr>
        <p:spPr>
          <a:xfrm>
            <a:off x="10029062" y="6588465"/>
            <a:ext cx="4719455" cy="308610"/>
          </a:xfrm>
          <a:prstGeom prst="rect">
            <a:avLst/>
          </a:prstGeom>
        </p:spPr>
        <p:txBody>
          <a:bodyPr lIns="0" tIns="0" rIns="0" bIns="0" rtlCol="0" anchor="t">
            <a:spAutoFit/>
          </a:bodyPr>
          <a:lstStyle/>
          <a:p>
            <a:pPr marL="0" lvl="0" indent="0" algn="l">
              <a:lnSpc>
                <a:spcPts val="2415"/>
              </a:lnSpc>
            </a:pPr>
            <a:r>
              <a:rPr lang="en-US" sz="2100">
                <a:solidFill>
                  <a:srgbClr val="F4D314"/>
                </a:solidFill>
                <a:latin typeface="Muli"/>
                <a:ea typeface="Muli"/>
                <a:cs typeface="Muli"/>
                <a:sym typeface="Muli"/>
              </a:rPr>
              <a:t>DELAY PATTERNS</a:t>
            </a:r>
          </a:p>
        </p:txBody>
      </p:sp>
      <p:sp>
        <p:nvSpPr>
          <p:cNvPr id="8" name="TextBox 8"/>
          <p:cNvSpPr txBox="1"/>
          <p:nvPr/>
        </p:nvSpPr>
        <p:spPr>
          <a:xfrm>
            <a:off x="10029062" y="7072803"/>
            <a:ext cx="6214224" cy="1868805"/>
          </a:xfrm>
          <a:prstGeom prst="rect">
            <a:avLst/>
          </a:prstGeom>
        </p:spPr>
        <p:txBody>
          <a:bodyPr lIns="0" tIns="0" rIns="0" bIns="0" rtlCol="0" anchor="t">
            <a:spAutoFit/>
          </a:bodyPr>
          <a:lstStyle/>
          <a:p>
            <a:pPr marL="0" lvl="0" indent="0" algn="l">
              <a:lnSpc>
                <a:spcPts val="2520"/>
              </a:lnSpc>
            </a:pPr>
            <a:r>
              <a:rPr lang="en-US" sz="1800">
                <a:solidFill>
                  <a:srgbClr val="FFFFFF"/>
                </a:solidFill>
                <a:latin typeface="Muli"/>
                <a:ea typeface="Muli"/>
                <a:cs typeface="Muli"/>
                <a:sym typeface="Muli"/>
              </a:rPr>
              <a:t>Morning rush hour at 7 AM experiences the highest delay frequency with nearly 100,000 incidents recorded. Most delays last between 16-30 minutes, representing the most common duration category. Midweek days, particularly Wednesday, show slightly elevated delay rates compared to other weekdays.</a:t>
            </a:r>
          </a:p>
        </p:txBody>
      </p:sp>
      <p:sp>
        <p:nvSpPr>
          <p:cNvPr id="9" name="TextBox 9"/>
          <p:cNvSpPr txBox="1"/>
          <p:nvPr/>
        </p:nvSpPr>
        <p:spPr>
          <a:xfrm>
            <a:off x="10029062" y="3904392"/>
            <a:ext cx="4719455" cy="308610"/>
          </a:xfrm>
          <a:prstGeom prst="rect">
            <a:avLst/>
          </a:prstGeom>
        </p:spPr>
        <p:txBody>
          <a:bodyPr lIns="0" tIns="0" rIns="0" bIns="0" rtlCol="0" anchor="t">
            <a:spAutoFit/>
          </a:bodyPr>
          <a:lstStyle/>
          <a:p>
            <a:pPr marL="0" lvl="0" indent="0" algn="l">
              <a:lnSpc>
                <a:spcPts val="2415"/>
              </a:lnSpc>
            </a:pPr>
            <a:r>
              <a:rPr lang="en-US" sz="2100">
                <a:solidFill>
                  <a:srgbClr val="F4D314"/>
                </a:solidFill>
                <a:latin typeface="Muli"/>
                <a:ea typeface="Muli"/>
                <a:cs typeface="Muli"/>
                <a:sym typeface="Muli"/>
              </a:rPr>
              <a:t>PRIMARY FINDINGS</a:t>
            </a:r>
          </a:p>
        </p:txBody>
      </p:sp>
      <p:sp>
        <p:nvSpPr>
          <p:cNvPr id="10" name="TextBox 10"/>
          <p:cNvSpPr txBox="1"/>
          <p:nvPr/>
        </p:nvSpPr>
        <p:spPr>
          <a:xfrm>
            <a:off x="10029062" y="4388730"/>
            <a:ext cx="6214224" cy="1554480"/>
          </a:xfrm>
          <a:prstGeom prst="rect">
            <a:avLst/>
          </a:prstGeom>
        </p:spPr>
        <p:txBody>
          <a:bodyPr lIns="0" tIns="0" rIns="0" bIns="0" rtlCol="0" anchor="t">
            <a:spAutoFit/>
          </a:bodyPr>
          <a:lstStyle/>
          <a:p>
            <a:pPr marL="0" lvl="0" indent="0" algn="l">
              <a:lnSpc>
                <a:spcPts val="2520"/>
              </a:lnSpc>
            </a:pPr>
            <a:r>
              <a:rPr lang="en-US" sz="1800">
                <a:solidFill>
                  <a:srgbClr val="FFFFFF"/>
                </a:solidFill>
                <a:latin typeface="Muli"/>
                <a:ea typeface="Muli"/>
                <a:cs typeface="Muli"/>
                <a:sym typeface="Muli"/>
              </a:rPr>
              <a:t>Brooklyn leads all NYC boroughs in bus delay incidents with 278,179 total cases. Heavy traffic is the dominant cause, accounting for over 133,000 incidents in Brooklyn alone. BORO TRANSIT, INC. represents the largest share of delays with 28,750 incidents in the borough.</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2006903" y="3977788"/>
            <a:ext cx="2624131" cy="262413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5" name="TextBox 5"/>
            <p:cNvSpPr txBox="1"/>
            <p:nvPr/>
          </p:nvSpPr>
          <p:spPr>
            <a:xfrm>
              <a:off x="76200" y="-28575"/>
              <a:ext cx="660400" cy="765175"/>
            </a:xfrm>
            <a:prstGeom prst="rect">
              <a:avLst/>
            </a:prstGeom>
          </p:spPr>
          <p:txBody>
            <a:bodyPr lIns="50800" tIns="50800" rIns="50800" bIns="50800" rtlCol="0" anchor="ctr"/>
            <a:lstStyle/>
            <a:p>
              <a:pPr marL="0" lvl="0" indent="0" algn="ctr">
                <a:lnSpc>
                  <a:spcPts val="6959"/>
                </a:lnSpc>
              </a:pPr>
              <a:r>
                <a:rPr lang="en-US" sz="4800" b="1">
                  <a:solidFill>
                    <a:srgbClr val="000000"/>
                  </a:solidFill>
                  <a:latin typeface="Muli Bold"/>
                  <a:ea typeface="Muli Bold"/>
                  <a:cs typeface="Muli Bold"/>
                  <a:sym typeface="Muli Bold"/>
                </a:rPr>
                <a:t>01</a:t>
              </a:r>
            </a:p>
          </p:txBody>
        </p:sp>
      </p:grpSp>
      <p:grpSp>
        <p:nvGrpSpPr>
          <p:cNvPr id="6" name="Group 6"/>
          <p:cNvGrpSpPr/>
          <p:nvPr/>
        </p:nvGrpSpPr>
        <p:grpSpPr>
          <a:xfrm>
            <a:off x="9671159" y="3977788"/>
            <a:ext cx="2624131" cy="262413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8" name="TextBox 8"/>
            <p:cNvSpPr txBox="1"/>
            <p:nvPr/>
          </p:nvSpPr>
          <p:spPr>
            <a:xfrm>
              <a:off x="76200" y="-28575"/>
              <a:ext cx="660400" cy="765175"/>
            </a:xfrm>
            <a:prstGeom prst="rect">
              <a:avLst/>
            </a:prstGeom>
          </p:spPr>
          <p:txBody>
            <a:bodyPr lIns="50800" tIns="50800" rIns="50800" bIns="50800" rtlCol="0" anchor="ctr"/>
            <a:lstStyle/>
            <a:p>
              <a:pPr marL="0" lvl="0" indent="0" algn="ctr">
                <a:lnSpc>
                  <a:spcPts val="6959"/>
                </a:lnSpc>
              </a:pPr>
              <a:r>
                <a:rPr lang="en-US" sz="4800" b="1">
                  <a:solidFill>
                    <a:srgbClr val="000000"/>
                  </a:solidFill>
                  <a:latin typeface="Muli Bold"/>
                  <a:ea typeface="Muli Bold"/>
                  <a:cs typeface="Muli Bold"/>
                  <a:sym typeface="Muli Bold"/>
                </a:rPr>
                <a:t>03</a:t>
              </a:r>
            </a:p>
          </p:txBody>
        </p:sp>
      </p:grpSp>
      <p:grpSp>
        <p:nvGrpSpPr>
          <p:cNvPr id="9" name="Group 9"/>
          <p:cNvGrpSpPr/>
          <p:nvPr/>
        </p:nvGrpSpPr>
        <p:grpSpPr>
          <a:xfrm>
            <a:off x="5839031" y="3977788"/>
            <a:ext cx="2624131" cy="262413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11" name="TextBox 11"/>
            <p:cNvSpPr txBox="1"/>
            <p:nvPr/>
          </p:nvSpPr>
          <p:spPr>
            <a:xfrm>
              <a:off x="76200" y="-28575"/>
              <a:ext cx="660400" cy="765175"/>
            </a:xfrm>
            <a:prstGeom prst="rect">
              <a:avLst/>
            </a:prstGeom>
          </p:spPr>
          <p:txBody>
            <a:bodyPr lIns="50800" tIns="50800" rIns="50800" bIns="50800" rtlCol="0" anchor="ctr"/>
            <a:lstStyle/>
            <a:p>
              <a:pPr marL="0" lvl="0" indent="0" algn="ctr">
                <a:lnSpc>
                  <a:spcPts val="6959"/>
                </a:lnSpc>
              </a:pPr>
              <a:r>
                <a:rPr lang="en-US" sz="4800" b="1">
                  <a:solidFill>
                    <a:srgbClr val="000000"/>
                  </a:solidFill>
                  <a:latin typeface="Muli Bold"/>
                  <a:ea typeface="Muli Bold"/>
                  <a:cs typeface="Muli Bold"/>
                  <a:sym typeface="Muli Bold"/>
                </a:rPr>
                <a:t>02</a:t>
              </a:r>
            </a:p>
          </p:txBody>
        </p:sp>
      </p:grpSp>
      <p:grpSp>
        <p:nvGrpSpPr>
          <p:cNvPr id="12" name="Group 12"/>
          <p:cNvGrpSpPr/>
          <p:nvPr/>
        </p:nvGrpSpPr>
        <p:grpSpPr>
          <a:xfrm>
            <a:off x="13503287" y="3977788"/>
            <a:ext cx="2624131" cy="262413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314"/>
            </a:solidFill>
          </p:spPr>
        </p:sp>
        <p:sp>
          <p:nvSpPr>
            <p:cNvPr id="14" name="TextBox 14"/>
            <p:cNvSpPr txBox="1"/>
            <p:nvPr/>
          </p:nvSpPr>
          <p:spPr>
            <a:xfrm>
              <a:off x="76200" y="-28575"/>
              <a:ext cx="660400" cy="765175"/>
            </a:xfrm>
            <a:prstGeom prst="rect">
              <a:avLst/>
            </a:prstGeom>
          </p:spPr>
          <p:txBody>
            <a:bodyPr lIns="50800" tIns="50800" rIns="50800" bIns="50800" rtlCol="0" anchor="ctr"/>
            <a:lstStyle/>
            <a:p>
              <a:pPr marL="0" lvl="0" indent="0" algn="ctr">
                <a:lnSpc>
                  <a:spcPts val="6959"/>
                </a:lnSpc>
              </a:pPr>
              <a:r>
                <a:rPr lang="en-US" sz="4800" b="1">
                  <a:solidFill>
                    <a:srgbClr val="000000"/>
                  </a:solidFill>
                  <a:latin typeface="Muli Bold"/>
                  <a:ea typeface="Muli Bold"/>
                  <a:cs typeface="Muli Bold"/>
                  <a:sym typeface="Muli Bold"/>
                </a:rPr>
                <a:t>04</a:t>
              </a:r>
            </a:p>
          </p:txBody>
        </p:sp>
      </p:grpSp>
      <p:sp>
        <p:nvSpPr>
          <p:cNvPr id="15" name="TextBox 15"/>
          <p:cNvSpPr txBox="1"/>
          <p:nvPr/>
        </p:nvSpPr>
        <p:spPr>
          <a:xfrm>
            <a:off x="9613966" y="2011663"/>
            <a:ext cx="6715709" cy="434354"/>
          </a:xfrm>
          <a:prstGeom prst="rect">
            <a:avLst/>
          </a:prstGeom>
        </p:spPr>
        <p:txBody>
          <a:bodyPr lIns="0" tIns="0" rIns="0" bIns="0" rtlCol="0" anchor="t">
            <a:spAutoFit/>
          </a:bodyPr>
          <a:lstStyle/>
          <a:p>
            <a:pPr marL="0" lvl="0" indent="0" algn="r">
              <a:lnSpc>
                <a:spcPts val="3653"/>
              </a:lnSpc>
            </a:pPr>
            <a:r>
              <a:rPr lang="en-US" sz="2519" spc="377">
                <a:solidFill>
                  <a:srgbClr val="F4D314"/>
                </a:solidFill>
                <a:latin typeface="Muli"/>
                <a:ea typeface="Muli"/>
                <a:cs typeface="Muli"/>
                <a:sym typeface="Muli"/>
              </a:rPr>
              <a:t>NYC SCHOOL BUS ANALYSIS</a:t>
            </a:r>
          </a:p>
        </p:txBody>
      </p:sp>
      <p:sp>
        <p:nvSpPr>
          <p:cNvPr id="16" name="TextBox 16"/>
          <p:cNvSpPr txBox="1"/>
          <p:nvPr/>
        </p:nvSpPr>
        <p:spPr>
          <a:xfrm>
            <a:off x="1958325" y="1097083"/>
            <a:ext cx="5985375" cy="2358764"/>
          </a:xfrm>
          <a:prstGeom prst="rect">
            <a:avLst/>
          </a:prstGeom>
        </p:spPr>
        <p:txBody>
          <a:bodyPr lIns="0" tIns="0" rIns="0" bIns="0" rtlCol="0" anchor="t">
            <a:spAutoFit/>
          </a:bodyPr>
          <a:lstStyle/>
          <a:p>
            <a:pPr marL="0" lvl="0" indent="0" algn="l">
              <a:lnSpc>
                <a:spcPts val="9259"/>
              </a:lnSpc>
            </a:pPr>
            <a:r>
              <a:rPr lang="en-US" sz="8051">
                <a:solidFill>
                  <a:srgbClr val="FFFFFF"/>
                </a:solidFill>
                <a:latin typeface="League Gothic"/>
                <a:ea typeface="League Gothic"/>
                <a:cs typeface="League Gothic"/>
                <a:sym typeface="League Gothic"/>
              </a:rPr>
              <a:t>IMPLICATIONS &amp; NEXT STEPS</a:t>
            </a:r>
          </a:p>
        </p:txBody>
      </p:sp>
      <p:sp>
        <p:nvSpPr>
          <p:cNvPr id="17" name="TextBox 17"/>
          <p:cNvSpPr txBox="1"/>
          <p:nvPr/>
        </p:nvSpPr>
        <p:spPr>
          <a:xfrm>
            <a:off x="1981217" y="7164679"/>
            <a:ext cx="2675503" cy="298892"/>
          </a:xfrm>
          <a:prstGeom prst="rect">
            <a:avLst/>
          </a:prstGeom>
        </p:spPr>
        <p:txBody>
          <a:bodyPr lIns="0" tIns="0" rIns="0" bIns="0" rtlCol="0" anchor="t">
            <a:spAutoFit/>
          </a:bodyPr>
          <a:lstStyle/>
          <a:p>
            <a:pPr marL="0" lvl="0" indent="0" algn="ctr">
              <a:lnSpc>
                <a:spcPts val="2380"/>
              </a:lnSpc>
            </a:pPr>
            <a:r>
              <a:rPr lang="en-US" sz="2069">
                <a:solidFill>
                  <a:srgbClr val="F4D314"/>
                </a:solidFill>
                <a:latin typeface="Muli"/>
                <a:ea typeface="Muli"/>
                <a:cs typeface="Muli"/>
                <a:sym typeface="Muli"/>
              </a:rPr>
              <a:t>TRAFFIC MITIGATION</a:t>
            </a:r>
          </a:p>
        </p:txBody>
      </p:sp>
      <p:sp>
        <p:nvSpPr>
          <p:cNvPr id="18" name="TextBox 18"/>
          <p:cNvSpPr txBox="1"/>
          <p:nvPr/>
        </p:nvSpPr>
        <p:spPr>
          <a:xfrm>
            <a:off x="9641396" y="7164679"/>
            <a:ext cx="2675503" cy="298892"/>
          </a:xfrm>
          <a:prstGeom prst="rect">
            <a:avLst/>
          </a:prstGeom>
        </p:spPr>
        <p:txBody>
          <a:bodyPr lIns="0" tIns="0" rIns="0" bIns="0" rtlCol="0" anchor="t">
            <a:spAutoFit/>
          </a:bodyPr>
          <a:lstStyle/>
          <a:p>
            <a:pPr marL="0" lvl="0" indent="0" algn="ctr">
              <a:lnSpc>
                <a:spcPts val="2380"/>
              </a:lnSpc>
            </a:pPr>
            <a:r>
              <a:rPr lang="en-US" sz="2069">
                <a:solidFill>
                  <a:srgbClr val="F4D314"/>
                </a:solidFill>
                <a:latin typeface="Muli"/>
                <a:ea typeface="Muli"/>
                <a:cs typeface="Muli"/>
                <a:sym typeface="Muli"/>
              </a:rPr>
              <a:t>MONITOR ISSUES</a:t>
            </a:r>
          </a:p>
        </p:txBody>
      </p:sp>
      <p:sp>
        <p:nvSpPr>
          <p:cNvPr id="19" name="TextBox 19"/>
          <p:cNvSpPr txBox="1"/>
          <p:nvPr/>
        </p:nvSpPr>
        <p:spPr>
          <a:xfrm>
            <a:off x="5632698" y="7164679"/>
            <a:ext cx="3036798" cy="298892"/>
          </a:xfrm>
          <a:prstGeom prst="rect">
            <a:avLst/>
          </a:prstGeom>
        </p:spPr>
        <p:txBody>
          <a:bodyPr lIns="0" tIns="0" rIns="0" bIns="0" rtlCol="0" anchor="t">
            <a:spAutoFit/>
          </a:bodyPr>
          <a:lstStyle/>
          <a:p>
            <a:pPr marL="0" lvl="0" indent="0" algn="ctr">
              <a:lnSpc>
                <a:spcPts val="2380"/>
              </a:lnSpc>
            </a:pPr>
            <a:r>
              <a:rPr lang="en-US" sz="2069">
                <a:solidFill>
                  <a:srgbClr val="F4D314"/>
                </a:solidFill>
                <a:latin typeface="Muli"/>
                <a:ea typeface="Muli"/>
                <a:cs typeface="Muli"/>
                <a:sym typeface="Muli"/>
              </a:rPr>
              <a:t>BORO TRANSIT</a:t>
            </a:r>
          </a:p>
        </p:txBody>
      </p:sp>
      <p:sp>
        <p:nvSpPr>
          <p:cNvPr id="20" name="TextBox 20"/>
          <p:cNvSpPr txBox="1"/>
          <p:nvPr/>
        </p:nvSpPr>
        <p:spPr>
          <a:xfrm>
            <a:off x="13292877" y="7164679"/>
            <a:ext cx="3036798" cy="298892"/>
          </a:xfrm>
          <a:prstGeom prst="rect">
            <a:avLst/>
          </a:prstGeom>
        </p:spPr>
        <p:txBody>
          <a:bodyPr lIns="0" tIns="0" rIns="0" bIns="0" rtlCol="0" anchor="t">
            <a:spAutoFit/>
          </a:bodyPr>
          <a:lstStyle/>
          <a:p>
            <a:pPr marL="0" lvl="0" indent="0" algn="ctr">
              <a:lnSpc>
                <a:spcPts val="2380"/>
              </a:lnSpc>
            </a:pPr>
            <a:r>
              <a:rPr lang="en-US" sz="2069">
                <a:solidFill>
                  <a:srgbClr val="F4D314"/>
                </a:solidFill>
                <a:latin typeface="Muli"/>
                <a:ea typeface="Muli"/>
                <a:cs typeface="Muli"/>
                <a:sym typeface="Muli"/>
              </a:rPr>
              <a:t>MIDWEEK SCHEDULING</a:t>
            </a:r>
          </a:p>
        </p:txBody>
      </p:sp>
      <p:sp>
        <p:nvSpPr>
          <p:cNvPr id="21" name="TextBox 21"/>
          <p:cNvSpPr txBox="1"/>
          <p:nvPr/>
        </p:nvSpPr>
        <p:spPr>
          <a:xfrm>
            <a:off x="5801899" y="7660864"/>
            <a:ext cx="2698394" cy="733047"/>
          </a:xfrm>
          <a:prstGeom prst="rect">
            <a:avLst/>
          </a:prstGeom>
        </p:spPr>
        <p:txBody>
          <a:bodyPr lIns="0" tIns="0" rIns="0" bIns="0" rtlCol="0" anchor="t">
            <a:spAutoFit/>
          </a:bodyPr>
          <a:lstStyle/>
          <a:p>
            <a:pPr marL="0" lvl="0" indent="0" algn="ctr">
              <a:lnSpc>
                <a:spcPts val="1988"/>
              </a:lnSpc>
            </a:pPr>
            <a:r>
              <a:rPr lang="en-US" sz="1529">
                <a:solidFill>
                  <a:srgbClr val="FFFFFF"/>
                </a:solidFill>
                <a:latin typeface="Muli"/>
                <a:ea typeface="Muli"/>
                <a:cs typeface="Muli"/>
                <a:sym typeface="Muli"/>
              </a:rPr>
              <a:t>Collaborate with BORO TRANSIT, INC. for operational improvements.</a:t>
            </a:r>
          </a:p>
        </p:txBody>
      </p:sp>
      <p:sp>
        <p:nvSpPr>
          <p:cNvPr id="22" name="TextBox 22"/>
          <p:cNvSpPr txBox="1"/>
          <p:nvPr/>
        </p:nvSpPr>
        <p:spPr>
          <a:xfrm>
            <a:off x="1958325" y="7660864"/>
            <a:ext cx="2698394" cy="733047"/>
          </a:xfrm>
          <a:prstGeom prst="rect">
            <a:avLst/>
          </a:prstGeom>
        </p:spPr>
        <p:txBody>
          <a:bodyPr lIns="0" tIns="0" rIns="0" bIns="0" rtlCol="0" anchor="t">
            <a:spAutoFit/>
          </a:bodyPr>
          <a:lstStyle/>
          <a:p>
            <a:pPr marL="0" lvl="0" indent="0" algn="ctr">
              <a:lnSpc>
                <a:spcPts val="1988"/>
              </a:lnSpc>
            </a:pPr>
            <a:r>
              <a:rPr lang="en-US" sz="1529">
                <a:solidFill>
                  <a:srgbClr val="FFFFFF"/>
                </a:solidFill>
                <a:latin typeface="Muli"/>
                <a:ea typeface="Muli"/>
                <a:cs typeface="Muli"/>
                <a:sym typeface="Muli"/>
              </a:rPr>
              <a:t>Focus on traffic mitigation strategies during morning rush hours in Brooklyn.</a:t>
            </a:r>
          </a:p>
        </p:txBody>
      </p:sp>
      <p:sp>
        <p:nvSpPr>
          <p:cNvPr id="23" name="TextBox 23"/>
          <p:cNvSpPr txBox="1"/>
          <p:nvPr/>
        </p:nvSpPr>
        <p:spPr>
          <a:xfrm>
            <a:off x="9629951" y="7660864"/>
            <a:ext cx="2698394" cy="733047"/>
          </a:xfrm>
          <a:prstGeom prst="rect">
            <a:avLst/>
          </a:prstGeom>
        </p:spPr>
        <p:txBody>
          <a:bodyPr lIns="0" tIns="0" rIns="0" bIns="0" rtlCol="0" anchor="t">
            <a:spAutoFit/>
          </a:bodyPr>
          <a:lstStyle/>
          <a:p>
            <a:pPr marL="0" lvl="0" indent="0" algn="ctr">
              <a:lnSpc>
                <a:spcPts val="1988"/>
              </a:lnSpc>
            </a:pPr>
            <a:r>
              <a:rPr lang="en-US" sz="1529">
                <a:solidFill>
                  <a:srgbClr val="FFFFFF"/>
                </a:solidFill>
                <a:latin typeface="Muli"/>
                <a:ea typeface="Muli"/>
                <a:cs typeface="Muli"/>
                <a:sym typeface="Muli"/>
              </a:rPr>
              <a:t>Proactively monitor mechanical issues and weather impacts.</a:t>
            </a:r>
          </a:p>
        </p:txBody>
      </p:sp>
      <p:sp>
        <p:nvSpPr>
          <p:cNvPr id="24" name="TextBox 24"/>
          <p:cNvSpPr txBox="1"/>
          <p:nvPr/>
        </p:nvSpPr>
        <p:spPr>
          <a:xfrm>
            <a:off x="13429024" y="7660864"/>
            <a:ext cx="2698394" cy="485397"/>
          </a:xfrm>
          <a:prstGeom prst="rect">
            <a:avLst/>
          </a:prstGeom>
        </p:spPr>
        <p:txBody>
          <a:bodyPr lIns="0" tIns="0" rIns="0" bIns="0" rtlCol="0" anchor="t">
            <a:spAutoFit/>
          </a:bodyPr>
          <a:lstStyle/>
          <a:p>
            <a:pPr marL="0" lvl="0" indent="0" algn="ctr">
              <a:lnSpc>
                <a:spcPts val="1988"/>
              </a:lnSpc>
            </a:pPr>
            <a:r>
              <a:rPr lang="en-US" sz="1529">
                <a:solidFill>
                  <a:srgbClr val="FFFFFF"/>
                </a:solidFill>
                <a:latin typeface="Muli"/>
                <a:ea typeface="Muli"/>
                <a:cs typeface="Muli"/>
                <a:sym typeface="Muli"/>
              </a:rPr>
              <a:t>Consider targeted scheduling or routing changes midweek.</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332893" y="571509"/>
            <a:ext cx="17499014" cy="9464129"/>
          </a:xfrm>
          <a:prstGeom prst="rect">
            <a:avLst/>
          </a:prstGeom>
        </p:spPr>
        <p:txBody>
          <a:bodyPr lIns="0" tIns="0" rIns="0" bIns="0" rtlCol="0" anchor="t">
            <a:spAutoFit/>
          </a:bodyPr>
          <a:lstStyle/>
          <a:p>
            <a:pPr algn="ctr">
              <a:lnSpc>
                <a:spcPts val="8208"/>
              </a:lnSpc>
              <a:spcBef>
                <a:spcPct val="0"/>
              </a:spcBef>
            </a:pPr>
            <a:r>
              <a:rPr lang="en-US" sz="7137" dirty="0">
                <a:solidFill>
                  <a:srgbClr val="FFFFFF"/>
                </a:solidFill>
                <a:latin typeface="Arapey"/>
                <a:ea typeface="Arapey"/>
                <a:cs typeface="Arapey"/>
                <a:sym typeface="Arapey"/>
              </a:rPr>
              <a:t>THANK YOU FOR YOUR TIME AND ATTENTION.</a:t>
            </a:r>
          </a:p>
          <a:p>
            <a:pPr algn="ctr">
              <a:lnSpc>
                <a:spcPts val="8208"/>
              </a:lnSpc>
              <a:spcBef>
                <a:spcPct val="0"/>
              </a:spcBef>
            </a:pPr>
            <a:endParaRPr lang="en-US" sz="7137" dirty="0">
              <a:solidFill>
                <a:srgbClr val="FFFFFF"/>
              </a:solidFill>
              <a:latin typeface="Arapey"/>
              <a:ea typeface="Arapey"/>
              <a:cs typeface="Arapey"/>
              <a:sym typeface="Arapey"/>
            </a:endParaRPr>
          </a:p>
          <a:p>
            <a:pPr algn="ctr">
              <a:lnSpc>
                <a:spcPts val="8208"/>
              </a:lnSpc>
              <a:spcBef>
                <a:spcPct val="0"/>
              </a:spcBef>
            </a:pPr>
            <a:endParaRPr lang="en-US" sz="7137" dirty="0">
              <a:solidFill>
                <a:srgbClr val="FFFFFF"/>
              </a:solidFill>
              <a:latin typeface="Arapey"/>
              <a:ea typeface="Arapey"/>
              <a:cs typeface="Arapey"/>
              <a:sym typeface="Arapey"/>
            </a:endParaRPr>
          </a:p>
          <a:p>
            <a:pPr algn="ctr">
              <a:lnSpc>
                <a:spcPts val="8208"/>
              </a:lnSpc>
              <a:spcBef>
                <a:spcPct val="0"/>
              </a:spcBef>
            </a:pPr>
            <a:r>
              <a:rPr lang="en-US" sz="7137" dirty="0" smtClean="0">
                <a:solidFill>
                  <a:srgbClr val="FFFFFF"/>
                </a:solidFill>
                <a:latin typeface="Arapey"/>
                <a:ea typeface="Arapey"/>
                <a:cs typeface="Arapey"/>
                <a:sym typeface="Arapey"/>
              </a:rPr>
              <a:t> </a:t>
            </a:r>
            <a:r>
              <a:rPr lang="en-US" sz="7137" dirty="0">
                <a:solidFill>
                  <a:srgbClr val="FFFFFF"/>
                </a:solidFill>
                <a:latin typeface="Arapey"/>
                <a:ea typeface="Arapey"/>
                <a:cs typeface="Arapey"/>
                <a:sym typeface="Arapey"/>
              </a:rPr>
              <a:t>I’m especially grateful to </a:t>
            </a:r>
          </a:p>
          <a:p>
            <a:pPr algn="ctr">
              <a:lnSpc>
                <a:spcPts val="8208"/>
              </a:lnSpc>
              <a:spcBef>
                <a:spcPct val="0"/>
              </a:spcBef>
            </a:pPr>
            <a:endParaRPr lang="en-US" sz="7137" dirty="0">
              <a:solidFill>
                <a:srgbClr val="FFFFFF"/>
              </a:solidFill>
              <a:latin typeface="Arapey"/>
              <a:ea typeface="Arapey"/>
              <a:cs typeface="Arapey"/>
              <a:sym typeface="Arapey"/>
            </a:endParaRPr>
          </a:p>
          <a:p>
            <a:pPr algn="ctr">
              <a:lnSpc>
                <a:spcPts val="8208"/>
              </a:lnSpc>
              <a:spcBef>
                <a:spcPct val="0"/>
              </a:spcBef>
            </a:pPr>
            <a:r>
              <a:rPr lang="en-US" sz="7137" i="1" u="sng" dirty="0" smtClean="0">
                <a:solidFill>
                  <a:srgbClr val="FFFFFF"/>
                </a:solidFill>
                <a:latin typeface="Arapey Bold Italics"/>
                <a:ea typeface="Arapey Bold Italics"/>
                <a:cs typeface="Arapey Bold Italics"/>
                <a:sym typeface="Arapey Bold Italics"/>
              </a:rPr>
              <a:t>Prof. </a:t>
            </a:r>
            <a:r>
              <a:rPr lang="en-US" sz="7137" i="1" u="sng" dirty="0">
                <a:solidFill>
                  <a:srgbClr val="FFFFFF"/>
                </a:solidFill>
                <a:latin typeface="Arapey Bold Italics"/>
                <a:ea typeface="Arapey Bold Italics"/>
                <a:cs typeface="Arapey Bold Italics"/>
                <a:sym typeface="Arapey Bold Italics"/>
              </a:rPr>
              <a:t>IMRAN KHAN</a:t>
            </a:r>
            <a:r>
              <a:rPr lang="en-US" sz="7137" dirty="0">
                <a:solidFill>
                  <a:srgbClr val="FFFFFF"/>
                </a:solidFill>
                <a:latin typeface="Arapey Bold"/>
                <a:ea typeface="Arapey Bold"/>
                <a:cs typeface="Arapey Bold"/>
                <a:sym typeface="Arapey Bold"/>
              </a:rPr>
              <a:t> </a:t>
            </a:r>
            <a:endParaRPr lang="en-US" sz="7137" dirty="0" smtClean="0">
              <a:solidFill>
                <a:srgbClr val="FFFFFF"/>
              </a:solidFill>
              <a:latin typeface="Arapey Bold"/>
              <a:ea typeface="Arapey Bold"/>
              <a:cs typeface="Arapey Bold"/>
              <a:sym typeface="Arapey Bold"/>
            </a:endParaRPr>
          </a:p>
          <a:p>
            <a:pPr algn="ctr">
              <a:lnSpc>
                <a:spcPts val="8208"/>
              </a:lnSpc>
              <a:spcBef>
                <a:spcPct val="0"/>
              </a:spcBef>
            </a:pPr>
            <a:endParaRPr lang="en-US" sz="7137" dirty="0">
              <a:solidFill>
                <a:srgbClr val="FFFFFF"/>
              </a:solidFill>
              <a:latin typeface="Arapey Bold"/>
              <a:ea typeface="Arapey Bold"/>
              <a:cs typeface="Arapey Bold"/>
              <a:sym typeface="Arapey Bold"/>
            </a:endParaRPr>
          </a:p>
          <a:p>
            <a:pPr algn="ctr">
              <a:lnSpc>
                <a:spcPts val="8208"/>
              </a:lnSpc>
              <a:spcBef>
                <a:spcPct val="0"/>
              </a:spcBef>
            </a:pPr>
            <a:r>
              <a:rPr lang="en-US" sz="7137" dirty="0">
                <a:solidFill>
                  <a:srgbClr val="FFFFFF"/>
                </a:solidFill>
                <a:latin typeface="Arapey"/>
                <a:ea typeface="Arapey"/>
                <a:cs typeface="Arapey"/>
                <a:sym typeface="Arapey"/>
              </a:rPr>
              <a:t> for the </a:t>
            </a:r>
            <a:r>
              <a:rPr lang="en-US" sz="7137" dirty="0" smtClean="0">
                <a:solidFill>
                  <a:srgbClr val="FFFFFF"/>
                </a:solidFill>
                <a:latin typeface="Arapey"/>
                <a:ea typeface="Arapey"/>
                <a:cs typeface="Arapey"/>
                <a:sym typeface="Arapey"/>
              </a:rPr>
              <a:t>guidance </a:t>
            </a:r>
            <a:r>
              <a:rPr lang="en-US" sz="7137" dirty="0">
                <a:solidFill>
                  <a:srgbClr val="FFFFFF"/>
                </a:solidFill>
                <a:latin typeface="Arapey"/>
                <a:ea typeface="Arapey"/>
                <a:cs typeface="Arapey"/>
                <a:sym typeface="Arapey"/>
              </a:rPr>
              <a:t>and encouragement </a:t>
            </a:r>
          </a:p>
          <a:p>
            <a:pPr algn="ctr">
              <a:lnSpc>
                <a:spcPts val="8208"/>
              </a:lnSpc>
              <a:spcBef>
                <a:spcPct val="0"/>
              </a:spcBef>
            </a:pPr>
            <a:r>
              <a:rPr lang="en-US" sz="7137" dirty="0">
                <a:solidFill>
                  <a:srgbClr val="FFFFFF"/>
                </a:solidFill>
                <a:latin typeface="Arapey"/>
                <a:ea typeface="Arapey"/>
                <a:cs typeface="Arapey"/>
                <a:sym typeface="Arapey"/>
              </a:rPr>
              <a:t>that shaped this project.</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2314586" y="4273591"/>
            <a:ext cx="13658828" cy="2757668"/>
          </a:xfrm>
          <a:prstGeom prst="rect">
            <a:avLst/>
          </a:prstGeom>
        </p:spPr>
        <p:txBody>
          <a:bodyPr lIns="0" tIns="0" rIns="0" bIns="0" rtlCol="0" anchor="t">
            <a:spAutoFit/>
          </a:bodyPr>
          <a:lstStyle/>
          <a:p>
            <a:pPr marL="0" lvl="0" indent="0" algn="ctr">
              <a:lnSpc>
                <a:spcPts val="21482"/>
              </a:lnSpc>
            </a:pPr>
            <a:r>
              <a:rPr lang="en-US" sz="18680">
                <a:solidFill>
                  <a:srgbClr val="FFFFFF"/>
                </a:solidFill>
                <a:latin typeface="League Gothic"/>
                <a:ea typeface="League Gothic"/>
                <a:cs typeface="League Gothic"/>
                <a:sym typeface="League Gothic"/>
              </a:rPr>
              <a:t>QUESTIONS?</a:t>
            </a:r>
          </a:p>
        </p:txBody>
      </p:sp>
      <p:sp>
        <p:nvSpPr>
          <p:cNvPr id="4" name="TextBox 4"/>
          <p:cNvSpPr txBox="1"/>
          <p:nvPr/>
        </p:nvSpPr>
        <p:spPr>
          <a:xfrm>
            <a:off x="6511958" y="990600"/>
            <a:ext cx="5264084" cy="304800"/>
          </a:xfrm>
          <a:prstGeom prst="rect">
            <a:avLst/>
          </a:prstGeom>
        </p:spPr>
        <p:txBody>
          <a:bodyPr lIns="0" tIns="0" rIns="0" bIns="0" rtlCol="0" anchor="t">
            <a:spAutoFit/>
          </a:bodyPr>
          <a:lstStyle/>
          <a:p>
            <a:pPr marL="0" lvl="0" indent="0" algn="ctr">
              <a:lnSpc>
                <a:spcPts val="2610"/>
              </a:lnSpc>
            </a:pPr>
            <a:r>
              <a:rPr lang="en-US" sz="1800" spc="379">
                <a:solidFill>
                  <a:srgbClr val="FFFFFF"/>
                </a:solidFill>
                <a:latin typeface="Muli"/>
                <a:ea typeface="Muli"/>
                <a:cs typeface="Muli"/>
                <a:sym typeface="Muli"/>
              </a:rPr>
              <a:t>Q&amp;A SESSION</a:t>
            </a:r>
          </a:p>
        </p:txBody>
      </p:sp>
    </p:spTree>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571500"/>
            <a:ext cx="14325600" cy="8956298"/>
          </a:xfrm>
          <a:prstGeom prst="rect">
            <a:avLst/>
          </a:prstGeom>
        </p:spPr>
        <p:txBody>
          <a:bodyPr wrap="square">
            <a:spAutoFit/>
          </a:bodyPr>
          <a:lstStyle/>
          <a:p>
            <a:r>
              <a:rPr lang="en-US" sz="3200" dirty="0">
                <a:solidFill>
                  <a:srgbClr val="FF0000"/>
                </a:solidFill>
                <a:latin typeface="Canva Sans"/>
              </a:rPr>
              <a:t> </a:t>
            </a:r>
            <a:r>
              <a:rPr lang="en-US" sz="3200" b="1" dirty="0">
                <a:solidFill>
                  <a:srgbClr val="FF0000"/>
                </a:solidFill>
                <a:latin typeface="Canva Sans"/>
              </a:rPr>
              <a:t>01 – Traffic Mitigation</a:t>
            </a:r>
            <a:r>
              <a:rPr lang="en-US" sz="3200" dirty="0">
                <a:solidFill>
                  <a:srgbClr val="FF0000"/>
                </a:solidFill>
                <a:latin typeface="Canva Sans"/>
              </a:rPr>
              <a:t/>
            </a:r>
            <a:br>
              <a:rPr lang="en-US" sz="3200" dirty="0">
                <a:solidFill>
                  <a:srgbClr val="FF0000"/>
                </a:solidFill>
                <a:latin typeface="Canva Sans"/>
              </a:rPr>
            </a:br>
            <a:r>
              <a:rPr lang="en-US" sz="3200" dirty="0">
                <a:solidFill>
                  <a:srgbClr val="FF0000"/>
                </a:solidFill>
                <a:latin typeface="Canva Sans"/>
              </a:rPr>
              <a:t/>
            </a:r>
            <a:br>
              <a:rPr lang="en-US" sz="3200" dirty="0">
                <a:solidFill>
                  <a:srgbClr val="FF0000"/>
                </a:solidFill>
                <a:latin typeface="Canva Sans"/>
              </a:rPr>
            </a:br>
            <a:r>
              <a:rPr lang="en-US" sz="3200" dirty="0">
                <a:solidFill>
                  <a:srgbClr val="FF0000"/>
                </a:solidFill>
                <a:latin typeface="Canva Sans"/>
              </a:rPr>
              <a:t>It talks about paying closer attention to busy morning times in Brooklyn and finding ways to ease the traffic around school bus routes.</a:t>
            </a:r>
          </a:p>
          <a:p>
            <a:r>
              <a:rPr lang="en-US" sz="3200" dirty="0">
                <a:solidFill>
                  <a:srgbClr val="FF0000"/>
                </a:solidFill>
                <a:latin typeface="Canva Sans"/>
              </a:rPr>
              <a:t>• </a:t>
            </a:r>
            <a:r>
              <a:rPr lang="en-US" sz="3200" b="1" dirty="0">
                <a:solidFill>
                  <a:srgbClr val="FF0000"/>
                </a:solidFill>
                <a:latin typeface="Canva Sans"/>
              </a:rPr>
              <a:t>02 – </a:t>
            </a:r>
            <a:r>
              <a:rPr lang="en-US" sz="3200" b="1" dirty="0" err="1">
                <a:solidFill>
                  <a:srgbClr val="FF0000"/>
                </a:solidFill>
                <a:latin typeface="Canva Sans"/>
              </a:rPr>
              <a:t>Boro</a:t>
            </a:r>
            <a:r>
              <a:rPr lang="en-US" sz="3200" b="1" dirty="0">
                <a:solidFill>
                  <a:srgbClr val="FF0000"/>
                </a:solidFill>
                <a:latin typeface="Canva Sans"/>
              </a:rPr>
              <a:t> Transit</a:t>
            </a:r>
            <a:r>
              <a:rPr lang="en-US" sz="3200" dirty="0">
                <a:solidFill>
                  <a:srgbClr val="FF0000"/>
                </a:solidFill>
                <a:latin typeface="Canva Sans"/>
              </a:rPr>
              <a:t/>
            </a:r>
            <a:br>
              <a:rPr lang="en-US" sz="3200" dirty="0">
                <a:solidFill>
                  <a:srgbClr val="FF0000"/>
                </a:solidFill>
                <a:latin typeface="Canva Sans"/>
              </a:rPr>
            </a:br>
            <a:r>
              <a:rPr lang="en-US" sz="3200" dirty="0">
                <a:solidFill>
                  <a:srgbClr val="FF0000"/>
                </a:solidFill>
                <a:latin typeface="Canva Sans"/>
              </a:rPr>
              <a:t/>
            </a:r>
            <a:br>
              <a:rPr lang="en-US" sz="3200" dirty="0">
                <a:solidFill>
                  <a:srgbClr val="FF0000"/>
                </a:solidFill>
                <a:latin typeface="Canva Sans"/>
              </a:rPr>
            </a:br>
            <a:r>
              <a:rPr lang="en-US" sz="3200" dirty="0">
                <a:solidFill>
                  <a:srgbClr val="FF0000"/>
                </a:solidFill>
                <a:latin typeface="Canva Sans"/>
              </a:rPr>
              <a:t>It highlights working with BORO TRANSIT, INC. to make their operations smoother.</a:t>
            </a:r>
          </a:p>
          <a:p>
            <a:r>
              <a:rPr lang="en-US" sz="3200" dirty="0">
                <a:solidFill>
                  <a:srgbClr val="FF0000"/>
                </a:solidFill>
                <a:latin typeface="Canva Sans"/>
              </a:rPr>
              <a:t>• </a:t>
            </a:r>
            <a:r>
              <a:rPr lang="en-US" sz="3200" b="1" dirty="0">
                <a:solidFill>
                  <a:srgbClr val="FF0000"/>
                </a:solidFill>
                <a:latin typeface="Canva Sans"/>
              </a:rPr>
              <a:t>03 – Monitor Issues</a:t>
            </a:r>
            <a:r>
              <a:rPr lang="en-US" sz="3200" dirty="0">
                <a:solidFill>
                  <a:srgbClr val="FF0000"/>
                </a:solidFill>
                <a:latin typeface="Canva Sans"/>
              </a:rPr>
              <a:t/>
            </a:r>
            <a:br>
              <a:rPr lang="en-US" sz="3200" dirty="0">
                <a:solidFill>
                  <a:srgbClr val="FF0000"/>
                </a:solidFill>
                <a:latin typeface="Canva Sans"/>
              </a:rPr>
            </a:br>
            <a:r>
              <a:rPr lang="en-US" sz="3200" dirty="0">
                <a:solidFill>
                  <a:srgbClr val="FF0000"/>
                </a:solidFill>
                <a:latin typeface="Canva Sans"/>
              </a:rPr>
              <a:t/>
            </a:r>
            <a:br>
              <a:rPr lang="en-US" sz="3200" dirty="0">
                <a:solidFill>
                  <a:srgbClr val="FF0000"/>
                </a:solidFill>
                <a:latin typeface="Canva Sans"/>
              </a:rPr>
            </a:br>
            <a:r>
              <a:rPr lang="en-US" sz="3200" dirty="0">
                <a:solidFill>
                  <a:srgbClr val="FF0000"/>
                </a:solidFill>
                <a:latin typeface="Canva Sans"/>
              </a:rPr>
              <a:t>It focuses on keeping an eye on things like mechanical problems or weather that could slow buses down.</a:t>
            </a:r>
          </a:p>
          <a:p>
            <a:r>
              <a:rPr lang="en-US" sz="3200" dirty="0">
                <a:solidFill>
                  <a:srgbClr val="FF0000"/>
                </a:solidFill>
                <a:latin typeface="Canva Sans"/>
              </a:rPr>
              <a:t>• </a:t>
            </a:r>
            <a:r>
              <a:rPr lang="en-US" sz="3200" b="1" dirty="0">
                <a:solidFill>
                  <a:srgbClr val="FF0000"/>
                </a:solidFill>
                <a:latin typeface="Canva Sans"/>
              </a:rPr>
              <a:t>04 – Midweek Scheduling</a:t>
            </a:r>
            <a:r>
              <a:rPr lang="en-US" sz="3200" dirty="0">
                <a:solidFill>
                  <a:srgbClr val="FF0000"/>
                </a:solidFill>
                <a:latin typeface="Canva Sans"/>
              </a:rPr>
              <a:t/>
            </a:r>
            <a:br>
              <a:rPr lang="en-US" sz="3200" dirty="0">
                <a:solidFill>
                  <a:srgbClr val="FF0000"/>
                </a:solidFill>
                <a:latin typeface="Canva Sans"/>
              </a:rPr>
            </a:br>
            <a:r>
              <a:rPr lang="en-US" sz="3200" dirty="0">
                <a:solidFill>
                  <a:srgbClr val="FF0000"/>
                </a:solidFill>
                <a:latin typeface="Canva Sans"/>
              </a:rPr>
              <a:t/>
            </a:r>
            <a:br>
              <a:rPr lang="en-US" sz="3200" dirty="0">
                <a:solidFill>
                  <a:srgbClr val="FF0000"/>
                </a:solidFill>
                <a:latin typeface="Canva Sans"/>
              </a:rPr>
            </a:br>
            <a:r>
              <a:rPr lang="en-US" sz="3200" dirty="0">
                <a:solidFill>
                  <a:srgbClr val="FF0000"/>
                </a:solidFill>
                <a:latin typeface="Canva Sans"/>
              </a:rPr>
              <a:t>It suggests possibly adjusting routes or schedules in the middle of the week when things might shift.</a:t>
            </a:r>
          </a:p>
          <a:p>
            <a:r>
              <a:rPr lang="en-US" sz="3200" dirty="0">
                <a:solidFill>
                  <a:srgbClr val="FF0000"/>
                </a:solidFill>
                <a:latin typeface="Canva Sans"/>
              </a:rPr>
              <a:t>Everything is set on a dark city street background, so the bright circles stand out clearly and make the steps easy to follow.</a:t>
            </a:r>
            <a:endParaRPr lang="en-US" sz="3200" b="0" i="0" dirty="0">
              <a:solidFill>
                <a:srgbClr val="FF0000"/>
              </a:solidFill>
              <a:effectLst/>
              <a:latin typeface="Canva Sans"/>
            </a:endParaRPr>
          </a:p>
        </p:txBody>
      </p:sp>
    </p:spTree>
    <p:extLst>
      <p:ext uri="{BB962C8B-B14F-4D97-AF65-F5344CB8AC3E}">
        <p14:creationId xmlns:p14="http://schemas.microsoft.com/office/powerpoint/2010/main" val="347022592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893</Words>
  <Application>Microsoft Office PowerPoint</Application>
  <PresentationFormat>Custom</PresentationFormat>
  <Paragraphs>154</Paragraphs>
  <Slides>15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Muli</vt:lpstr>
      <vt:lpstr>Canva Sans</vt:lpstr>
      <vt:lpstr>Arapey Bold</vt:lpstr>
      <vt:lpstr>Muli Bold</vt:lpstr>
      <vt:lpstr>Arapey Bold Italics</vt:lpstr>
      <vt:lpstr>Arapey</vt:lpstr>
      <vt:lpstr>Arial</vt:lpstr>
      <vt:lpstr>League Gothic</vt:lpstr>
      <vt:lpstr>Calibri</vt:lpstr>
      <vt:lpstr>Times New Roman MT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Brooklyn Bus Delays Deep Dive</dc:title>
  <dc:creator>nycdoe</dc:creator>
  <cp:lastModifiedBy>nycdoe</cp:lastModifiedBy>
  <cp:revision>7</cp:revision>
  <dcterms:created xsi:type="dcterms:W3CDTF">2006-08-16T00:00:00Z</dcterms:created>
  <dcterms:modified xsi:type="dcterms:W3CDTF">2026-05-07T00:24:55Z</dcterms:modified>
  <dc:identifier>DAHI5VGGO5k</dc:identifier>
</cp:coreProperties>
</file>